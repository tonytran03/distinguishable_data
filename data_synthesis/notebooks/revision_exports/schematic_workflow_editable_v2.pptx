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624560" cy="4114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333434"/>
                </a:solidFill>
                <a:latin typeface="Arial"/>
              </a:rPr>
              <a:t>Systematic evaluation of synthetic biomedical data fidelity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3624560" cy="25603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1050" b="0">
                <a:solidFill>
                  <a:srgbClr val="646464"/>
                </a:solidFill>
                <a:latin typeface="Arial"/>
              </a:rPr>
              <a:t>Editable schematic source for manuscript Figure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880360" cy="5074920"/>
          </a:xfrm>
          <a:prstGeom prst="roundRect">
            <a:avLst/>
          </a:prstGeom>
          <a:solidFill>
            <a:srgbClr val="FAFAFA"/>
          </a:solidFill>
          <a:ln w="17780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Input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1508760"/>
            <a:ext cx="2514600" cy="5074920"/>
          </a:xfrm>
          <a:prstGeom prst="roundRect">
            <a:avLst/>
          </a:prstGeom>
          <a:solidFill>
            <a:srgbClr val="F7FBFF"/>
          </a:solidFill>
          <a:ln w="17780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Synthetic generators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148840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148840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148840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7864" y="2148840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6736" y="2148840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35608" y="2148840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281428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2281428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2281428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7864" y="2281428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16736" y="2281428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35608" y="2281428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414016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2414016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2414016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97864" y="2414016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16736" y="2414016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35608" y="2414016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2546604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2546604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2546604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97864" y="2546604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16736" y="2546604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5608" y="2546604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55648" y="2313432"/>
            <a:ext cx="210312" cy="210312"/>
          </a:xfrm>
          <a:prstGeom prst="ellipse">
            <a:avLst/>
          </a:prstGeom>
          <a:solidFill>
            <a:srgbClr val="EA5C1F"/>
          </a:solidFill>
          <a:ln w="15240">
            <a:solidFill>
              <a:srgbClr val="EA5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1" y="2240280"/>
            <a:ext cx="96012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A5C1F"/>
                </a:solidFill>
                <a:latin typeface="Arial"/>
              </a:rPr>
              <a:t>HIV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1" y="2542032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real X, 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3291840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" y="3291840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8992" y="3291840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97864" y="3291840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16736" y="3291840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35608" y="3291840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" y="3424428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3424428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8992" y="3424428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97864" y="3424428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424428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35608" y="3424428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" y="3557016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0120" y="3557016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8992" y="3557016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7864" y="3557016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16736" y="3557016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35608" y="3557016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1248" y="3689604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" y="3689604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8992" y="3689604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97864" y="3689604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16736" y="3689604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35608" y="3689604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755648" y="3456432"/>
            <a:ext cx="210312" cy="210312"/>
          </a:xfrm>
          <a:prstGeom prst="ellipse">
            <a:avLst/>
          </a:prstGeom>
          <a:solidFill>
            <a:srgbClr val="1DB100"/>
          </a:solidFill>
          <a:ln w="15240">
            <a:solidFill>
              <a:srgbClr val="1DB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84831" y="3383280"/>
            <a:ext cx="96012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DB100"/>
                </a:solidFill>
                <a:latin typeface="Arial"/>
              </a:rPr>
              <a:t>Breast Cancer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84831" y="3685032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real X, 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" y="4434840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0120" y="4434840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8992" y="4434840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97864" y="4434840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16736" y="4434840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435608" y="4434840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" y="4567427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0120" y="4567427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8992" y="4567427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97864" y="4567427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316736" y="4567427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435608" y="4567427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1248" y="4700016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120" y="4700016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8992" y="4700016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97864" y="4700016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16736" y="4700016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35608" y="4700016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1248" y="4832603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0120" y="4832603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8992" y="4832603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97864" y="4832603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16736" y="4832603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435608" y="4832603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755648" y="4599431"/>
            <a:ext cx="210312" cy="210312"/>
          </a:xfrm>
          <a:prstGeom prst="ellipse">
            <a:avLst/>
          </a:prstGeom>
          <a:solidFill>
            <a:srgbClr val="0076BA"/>
          </a:solidFill>
          <a:ln w="1524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84831" y="4526279"/>
            <a:ext cx="96012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076BA"/>
                </a:solidFill>
                <a:latin typeface="Arial"/>
              </a:rPr>
              <a:t>Diabetes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84831" y="4828031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real X, y</a:t>
            </a:r>
          </a:p>
        </p:txBody>
      </p:sp>
      <p:sp>
        <p:nvSpPr>
          <p:cNvPr id="89" name="Oval 88"/>
          <p:cNvSpPr/>
          <p:nvPr/>
        </p:nvSpPr>
        <p:spPr>
          <a:xfrm>
            <a:off x="4462272" y="2148840"/>
            <a:ext cx="256032" cy="256032"/>
          </a:xfrm>
          <a:prstGeom prst="ellipse">
            <a:avLst/>
          </a:prstGeom>
          <a:solidFill>
            <a:srgbClr val="6A5ACD"/>
          </a:solidFill>
          <a:ln w="1524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64608" y="213055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6A5ACD"/>
                </a:solidFill>
                <a:latin typeface="Arial"/>
              </a:rPr>
              <a:t>Bootstrap</a:t>
            </a:r>
          </a:p>
        </p:txBody>
      </p:sp>
      <p:sp>
        <p:nvSpPr>
          <p:cNvPr id="91" name="Oval 90"/>
          <p:cNvSpPr/>
          <p:nvPr/>
        </p:nvSpPr>
        <p:spPr>
          <a:xfrm>
            <a:off x="4462272" y="2926080"/>
            <a:ext cx="256032" cy="256032"/>
          </a:xfrm>
          <a:prstGeom prst="ellipse">
            <a:avLst/>
          </a:prstGeom>
          <a:solidFill>
            <a:srgbClr val="CC79A7"/>
          </a:solidFill>
          <a:ln w="15240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64608" y="290779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CC79A7"/>
                </a:solidFill>
                <a:latin typeface="Arial"/>
              </a:rPr>
              <a:t>Column-wise</a:t>
            </a:r>
          </a:p>
        </p:txBody>
      </p:sp>
      <p:sp>
        <p:nvSpPr>
          <p:cNvPr id="93" name="Oval 92"/>
          <p:cNvSpPr/>
          <p:nvPr/>
        </p:nvSpPr>
        <p:spPr>
          <a:xfrm>
            <a:off x="4462272" y="3703320"/>
            <a:ext cx="256032" cy="256032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64608" y="368503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009E73"/>
                </a:solidFill>
                <a:latin typeface="Arial"/>
              </a:rPr>
              <a:t>GMM</a:t>
            </a:r>
          </a:p>
        </p:txBody>
      </p:sp>
      <p:sp>
        <p:nvSpPr>
          <p:cNvPr id="95" name="Oval 94"/>
          <p:cNvSpPr/>
          <p:nvPr/>
        </p:nvSpPr>
        <p:spPr>
          <a:xfrm>
            <a:off x="4462272" y="4480560"/>
            <a:ext cx="256032" cy="256032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64608" y="446227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D55E00"/>
                </a:solidFill>
                <a:latin typeface="Arial"/>
              </a:rPr>
              <a:t>CVAE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3511296" y="4041648"/>
            <a:ext cx="402336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729984" y="4041648"/>
            <a:ext cx="420624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594360" y="7516368"/>
            <a:ext cx="13441680" cy="25603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950" b="0">
                <a:solidFill>
                  <a:srgbClr val="646464"/>
                </a:solidFill>
                <a:latin typeface="Arial"/>
              </a:rPr>
              <a:t>All text, boxes, arrows, markers, and mini-panels are editable PowerPoint objects.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15200" y="1508760"/>
            <a:ext cx="3246120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2860" bIns="22860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Evaluation hierarchy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1475720" y="1508760"/>
            <a:ext cx="2423160" cy="5074920"/>
          </a:xfrm>
          <a:prstGeom prst="roundRect">
            <a:avLst/>
          </a:prstGeom>
          <a:solidFill>
            <a:srgbClr val="FFF8EF"/>
          </a:solidFill>
          <a:ln w="17145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2860" bIns="22860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Stress tests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552944" y="1993392"/>
            <a:ext cx="1207008" cy="144475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607808" y="2057400"/>
            <a:ext cx="1097280" cy="18288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950" b="1">
                <a:solidFill>
                  <a:srgbClr val="333434"/>
                </a:solidFill>
                <a:latin typeface="Arial"/>
              </a:rPr>
              <a:t>Geometry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598664" y="3218688"/>
            <a:ext cx="1115568" cy="128016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660" b="0">
                <a:solidFill>
                  <a:srgbClr val="5F5F5F"/>
                </a:solidFill>
                <a:latin typeface="Arial"/>
              </a:rPr>
              <a:t>PCA overlap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7735823" y="3017520"/>
            <a:ext cx="859536" cy="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735823" y="2377440"/>
            <a:ext cx="0" cy="64008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735823" y="2806293"/>
            <a:ext cx="859536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735823" y="2595067"/>
            <a:ext cx="859536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7907731" y="3049524"/>
            <a:ext cx="584484" cy="100584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PC1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562088" y="2556662"/>
            <a:ext cx="164592" cy="109728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PC2</a:t>
            </a:r>
          </a:p>
        </p:txBody>
      </p:sp>
      <p:sp>
        <p:nvSpPr>
          <p:cNvPr id="202" name="Oval 201"/>
          <p:cNvSpPr/>
          <p:nvPr/>
        </p:nvSpPr>
        <p:spPr>
          <a:xfrm>
            <a:off x="7903890" y="2612440"/>
            <a:ext cx="42062" cy="4206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972653" y="2753258"/>
            <a:ext cx="42062" cy="4206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075797" y="2676448"/>
            <a:ext cx="42062" cy="4206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127370" y="2817266"/>
            <a:ext cx="42062" cy="4206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13323" y="2599639"/>
            <a:ext cx="42062" cy="42062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99277" y="2689250"/>
            <a:ext cx="42062" cy="42062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385230" y="2580436"/>
            <a:ext cx="42062" cy="42062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453993" y="2714853"/>
            <a:ext cx="42062" cy="42062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9089136" y="1993392"/>
            <a:ext cx="1207008" cy="144475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144000" y="2057400"/>
            <a:ext cx="1097280" cy="18288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950" b="1">
                <a:solidFill>
                  <a:srgbClr val="333434"/>
                </a:solidFill>
                <a:latin typeface="Arial"/>
              </a:rPr>
              <a:t>Distributions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134856" y="3218688"/>
            <a:ext cx="1115568" cy="128016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660" b="0">
                <a:solidFill>
                  <a:srgbClr val="5F5F5F"/>
                </a:solidFill>
                <a:latin typeface="Arial"/>
              </a:rPr>
              <a:t>marginal fidelity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9272015" y="3017520"/>
            <a:ext cx="859536" cy="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72015" y="2377440"/>
            <a:ext cx="0" cy="64008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72015" y="2806293"/>
            <a:ext cx="859536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272015" y="2595067"/>
            <a:ext cx="859536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9443923" y="3049524"/>
            <a:ext cx="584484" cy="100584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features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098280" y="2556662"/>
            <a:ext cx="164592" cy="109728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density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336024" y="2857500"/>
            <a:ext cx="50560" cy="16002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383775" y="2835097"/>
            <a:ext cx="50560" cy="18242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8814" y="2665476"/>
            <a:ext cx="50560" cy="35204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506566" y="2677637"/>
            <a:ext cx="50560" cy="33988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581605" y="2441448"/>
            <a:ext cx="50560" cy="576072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629357" y="2493934"/>
            <a:ext cx="50560" cy="523585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704396" y="2582265"/>
            <a:ext cx="50560" cy="43525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752148" y="2609404"/>
            <a:ext cx="50560" cy="408115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827187" y="2774289"/>
            <a:ext cx="50560" cy="24323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874939" y="2766864"/>
            <a:ext cx="50560" cy="250655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49978" y="2902305"/>
            <a:ext cx="50560" cy="11521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997730" y="2871837"/>
            <a:ext cx="50560" cy="14568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7552944" y="4005072"/>
            <a:ext cx="1207008" cy="144475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7607808" y="4069080"/>
            <a:ext cx="1097280" cy="18288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950" b="1">
                <a:solidFill>
                  <a:srgbClr val="333434"/>
                </a:solidFill>
                <a:latin typeface="Arial"/>
              </a:rPr>
              <a:t>Structure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598664" y="5230368"/>
            <a:ext cx="1115568" cy="128016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660" b="0">
                <a:solidFill>
                  <a:srgbClr val="5F5F5F"/>
                </a:solidFill>
                <a:latin typeface="Arial"/>
              </a:rPr>
              <a:t>feature correlations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754111" y="4434840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822874" y="4434840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891637" y="4434840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960400" y="4434840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8029163" y="4434840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754111" y="4546853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822874" y="4546853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891637" y="4546853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960400" y="4546853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029163" y="4546853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7754111" y="4658868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822874" y="4658868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891637" y="4658868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960400" y="4658868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029163" y="4658868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754111" y="4770881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822874" y="4770881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891637" y="4770881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960400" y="4770881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029163" y="4770881"/>
            <a:ext cx="57302" cy="89611"/>
          </a:xfrm>
          <a:prstGeom prst="rect">
            <a:avLst/>
          </a:prstGeom>
          <a:solidFill>
            <a:srgbClr val="1DB10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217164" y="4434840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8285927" y="4434840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8354689" y="4434840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8423452" y="4434840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8492215" y="4434840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8217164" y="4546853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8285927" y="4546853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8354689" y="4546853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423452" y="4546853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492215" y="4546853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8217164" y="4658868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285927" y="4658868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354689" y="4658868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8423452" y="4658868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8492215" y="4658868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8217164" y="4770881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8285927" y="4770881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8354689" y="4770881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423452" y="4770881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492215" y="4770881"/>
            <a:ext cx="57302" cy="89611"/>
          </a:xfrm>
          <a:prstGeom prst="rect">
            <a:avLst/>
          </a:prstGeom>
          <a:solidFill>
            <a:srgbClr val="0076B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7735823" y="4875580"/>
            <a:ext cx="361005" cy="9144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real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8199973" y="4875580"/>
            <a:ext cx="361005" cy="9144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synthetic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9089136" y="4005072"/>
            <a:ext cx="1207008" cy="144475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9144000" y="4069080"/>
            <a:ext cx="1097280" cy="18288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950" b="1">
                <a:solidFill>
                  <a:srgbClr val="333434"/>
                </a:solidFill>
                <a:latin typeface="Arial"/>
              </a:rPr>
              <a:t>Utility / AUC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9134856" y="5230368"/>
            <a:ext cx="1115568" cy="128016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660" b="0">
                <a:solidFill>
                  <a:srgbClr val="5F5F5F"/>
                </a:solidFill>
                <a:latin typeface="Arial"/>
              </a:rPr>
              <a:t>RF separability + TSTR</a:t>
            </a:r>
          </a:p>
        </p:txBody>
      </p:sp>
      <p:cxnSp>
        <p:nvCxnSpPr>
          <p:cNvPr id="279" name="Connector 278"/>
          <p:cNvCxnSpPr/>
          <p:nvPr/>
        </p:nvCxnSpPr>
        <p:spPr>
          <a:xfrm>
            <a:off x="9272015" y="5029200"/>
            <a:ext cx="859536" cy="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9272015" y="4389120"/>
            <a:ext cx="0" cy="64008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9272015" y="4817973"/>
            <a:ext cx="859536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9272015" y="4606747"/>
            <a:ext cx="859536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9443923" y="5061204"/>
            <a:ext cx="584484" cy="100584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FPR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098280" y="4568342"/>
            <a:ext cx="164592" cy="109728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TPR</a:t>
            </a:r>
          </a:p>
        </p:txBody>
      </p:sp>
      <p:cxnSp>
        <p:nvCxnSpPr>
          <p:cNvPr id="285" name="Connector 284"/>
          <p:cNvCxnSpPr/>
          <p:nvPr/>
        </p:nvCxnSpPr>
        <p:spPr>
          <a:xfrm flipV="1">
            <a:off x="9272015" y="4389120"/>
            <a:ext cx="859536" cy="640080"/>
          </a:xfrm>
          <a:prstGeom prst="line">
            <a:avLst/>
          </a:prstGeom>
          <a:ln w="8890">
            <a:solidFill>
              <a:srgbClr val="CDCD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9289206" y="4785969"/>
            <a:ext cx="137526" cy="192024"/>
          </a:xfrm>
          <a:prstGeom prst="line">
            <a:avLst/>
          </a:prstGeom>
          <a:ln w="1778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9426732" y="4619548"/>
            <a:ext cx="189098" cy="166421"/>
          </a:xfrm>
          <a:prstGeom prst="line">
            <a:avLst/>
          </a:prstGeom>
          <a:ln w="1778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9615830" y="4491532"/>
            <a:ext cx="275051" cy="128016"/>
          </a:xfrm>
          <a:prstGeom prst="line">
            <a:avLst/>
          </a:prstGeom>
          <a:ln w="1778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9890881" y="4427524"/>
            <a:ext cx="206289" cy="64008"/>
          </a:xfrm>
          <a:prstGeom prst="line">
            <a:avLst/>
          </a:prstGeom>
          <a:ln w="1778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TextBox 289"/>
          <p:cNvSpPr txBox="1"/>
          <p:nvPr/>
        </p:nvSpPr>
        <p:spPr>
          <a:xfrm>
            <a:off x="7562088" y="5833872"/>
            <a:ext cx="2651760" cy="256032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819" b="0">
                <a:solidFill>
                  <a:srgbClr val="5F5F5F"/>
                </a:solidFill>
                <a:latin typeface="Arial"/>
              </a:rPr>
              <a:t>visual fidelity  -&gt;  statistical fidelity  -&gt;  downstream behavior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11759184" y="2029968"/>
            <a:ext cx="1783080" cy="1700784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1814048" y="2093976"/>
            <a:ext cx="1673352" cy="18288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950" b="1">
                <a:solidFill>
                  <a:srgbClr val="333434"/>
                </a:solidFill>
                <a:latin typeface="Arial"/>
              </a:rPr>
              <a:t>Noise sensitivity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11996928" y="3310128"/>
            <a:ext cx="1389887" cy="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1996928" y="2395728"/>
            <a:ext cx="0" cy="91440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1996928" y="3008376"/>
            <a:ext cx="1389887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1996928" y="2706624"/>
            <a:ext cx="1389887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12274905" y="3342132"/>
            <a:ext cx="945123" cy="100584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sigma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1823192" y="2651760"/>
            <a:ext cx="164592" cy="109728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AUC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11996928" y="2898648"/>
            <a:ext cx="1389887" cy="0"/>
          </a:xfrm>
          <a:prstGeom prst="line">
            <a:avLst/>
          </a:prstGeom>
          <a:ln w="8890">
            <a:solidFill>
              <a:srgbClr val="CDCD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2052523" y="2542032"/>
            <a:ext cx="333573" cy="36576"/>
          </a:xfrm>
          <a:prstGeom prst="line">
            <a:avLst/>
          </a:prstGeom>
          <a:ln w="14604">
            <a:solidFill>
              <a:srgbClr val="6A5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2386096" y="2578608"/>
            <a:ext cx="333573" cy="73152"/>
          </a:xfrm>
          <a:prstGeom prst="line">
            <a:avLst/>
          </a:prstGeom>
          <a:ln w="14604">
            <a:solidFill>
              <a:srgbClr val="6A5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2719669" y="2651760"/>
            <a:ext cx="333573" cy="91440"/>
          </a:xfrm>
          <a:prstGeom prst="line">
            <a:avLst/>
          </a:prstGeom>
          <a:ln w="14604">
            <a:solidFill>
              <a:srgbClr val="6A5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3053242" y="2743200"/>
            <a:ext cx="277978" cy="64008"/>
          </a:xfrm>
          <a:prstGeom prst="line">
            <a:avLst/>
          </a:prstGeom>
          <a:ln w="14604">
            <a:solidFill>
              <a:srgbClr val="6A5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Oval 303"/>
          <p:cNvSpPr/>
          <p:nvPr/>
        </p:nvSpPr>
        <p:spPr>
          <a:xfrm>
            <a:off x="12032406" y="2521915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2365979" y="2558491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2699552" y="2631643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3033126" y="2723083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3311103" y="2787091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9" name="Connector 308"/>
          <p:cNvCxnSpPr/>
          <p:nvPr/>
        </p:nvCxnSpPr>
        <p:spPr>
          <a:xfrm>
            <a:off x="12052523" y="2596896"/>
            <a:ext cx="333573" cy="18288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2386096" y="2615184"/>
            <a:ext cx="333573" cy="54864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2719669" y="2670048"/>
            <a:ext cx="333573" cy="36576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3053242" y="2706624"/>
            <a:ext cx="277978" cy="54864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Oval 312"/>
          <p:cNvSpPr/>
          <p:nvPr/>
        </p:nvSpPr>
        <p:spPr>
          <a:xfrm>
            <a:off x="12032406" y="2576779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2365979" y="2595067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2699552" y="2649931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033126" y="2686507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3311103" y="2741371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2052523" y="2670048"/>
            <a:ext cx="333573" cy="18288"/>
          </a:xfrm>
          <a:prstGeom prst="line">
            <a:avLst/>
          </a:prstGeom>
          <a:ln w="14604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12386096" y="2688336"/>
            <a:ext cx="333573" cy="36576"/>
          </a:xfrm>
          <a:prstGeom prst="line">
            <a:avLst/>
          </a:prstGeom>
          <a:ln w="14604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12719669" y="2724912"/>
            <a:ext cx="333573" cy="54864"/>
          </a:xfrm>
          <a:prstGeom prst="line">
            <a:avLst/>
          </a:prstGeom>
          <a:ln w="14604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13053242" y="2779776"/>
            <a:ext cx="277978" cy="36576"/>
          </a:xfrm>
          <a:prstGeom prst="line">
            <a:avLst/>
          </a:prstGeom>
          <a:ln w="14604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Oval 321"/>
          <p:cNvSpPr/>
          <p:nvPr/>
        </p:nvSpPr>
        <p:spPr>
          <a:xfrm>
            <a:off x="12032406" y="2649931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2365979" y="2668219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2699552" y="2704795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3033126" y="2759659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3311103" y="2796235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ounded Rectangle 326"/>
          <p:cNvSpPr/>
          <p:nvPr/>
        </p:nvSpPr>
        <p:spPr>
          <a:xfrm>
            <a:off x="11759184" y="4370832"/>
            <a:ext cx="1783080" cy="1700784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1814048" y="4434840"/>
            <a:ext cx="1673352" cy="18288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950" b="1">
                <a:solidFill>
                  <a:srgbClr val="333434"/>
                </a:solidFill>
                <a:latin typeface="Arial"/>
              </a:rPr>
              <a:t>Reverse ablation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11996928" y="5650992"/>
            <a:ext cx="1389887" cy="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1996928" y="4736592"/>
            <a:ext cx="0" cy="91440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1996928" y="5349240"/>
            <a:ext cx="1389887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1996928" y="5047488"/>
            <a:ext cx="1389887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TextBox 332"/>
          <p:cNvSpPr txBox="1"/>
          <p:nvPr/>
        </p:nvSpPr>
        <p:spPr>
          <a:xfrm>
            <a:off x="12274905" y="5682996"/>
            <a:ext cx="945123" cy="100584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features removed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1823192" y="4992624"/>
            <a:ext cx="164592" cy="109728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AUC</a:t>
            </a:r>
          </a:p>
        </p:txBody>
      </p:sp>
      <p:cxnSp>
        <p:nvCxnSpPr>
          <p:cNvPr id="335" name="Connector 334"/>
          <p:cNvCxnSpPr/>
          <p:nvPr/>
        </p:nvCxnSpPr>
        <p:spPr>
          <a:xfrm>
            <a:off x="11996928" y="5239512"/>
            <a:ext cx="1389887" cy="0"/>
          </a:xfrm>
          <a:prstGeom prst="line">
            <a:avLst/>
          </a:prstGeom>
          <a:ln w="8890">
            <a:solidFill>
              <a:srgbClr val="CDCD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2052523" y="4846320"/>
            <a:ext cx="222382" cy="73152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2274905" y="4919472"/>
            <a:ext cx="250180" cy="91440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2525085" y="5010912"/>
            <a:ext cx="277978" cy="73152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2803063" y="5084064"/>
            <a:ext cx="277977" cy="54864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3081040" y="5138928"/>
            <a:ext cx="250180" cy="36576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Oval 340"/>
          <p:cNvSpPr/>
          <p:nvPr/>
        </p:nvSpPr>
        <p:spPr>
          <a:xfrm>
            <a:off x="12032406" y="4826203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2254788" y="4899355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2504968" y="4990795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2782946" y="5063947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3060923" y="5118811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3311103" y="5155387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2051792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2170664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289536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2408408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2527280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11722608" y="6172200"/>
            <a:ext cx="1828800" cy="164592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780" b="0">
                <a:solidFill>
                  <a:srgbClr val="5F5F5F"/>
                </a:solidFill>
                <a:latin typeface="Arial"/>
              </a:rPr>
              <a:t>robustness under perturbation</a:t>
            </a:r>
          </a:p>
        </p:txBody>
      </p:sp>
      <p:cxnSp>
        <p:nvCxnSpPr>
          <p:cNvPr id="353" name="Connector 352"/>
          <p:cNvCxnSpPr/>
          <p:nvPr/>
        </p:nvCxnSpPr>
        <p:spPr>
          <a:xfrm>
            <a:off x="6729984" y="4041648"/>
            <a:ext cx="420624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0716768" y="4041648"/>
            <a:ext cx="576072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