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624560" cy="4114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333434"/>
                </a:solidFill>
                <a:latin typeface="Arial"/>
              </a:rPr>
              <a:t>Systematic evaluation of synthetic biomedical data fidelity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3624560" cy="25603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1050" b="0">
                <a:solidFill>
                  <a:srgbClr val="646464"/>
                </a:solidFill>
                <a:latin typeface="Arial"/>
              </a:rPr>
              <a:t>Editable schematic source for manuscript Figure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2880360" cy="5074920"/>
          </a:xfrm>
          <a:prstGeom prst="roundRect">
            <a:avLst/>
          </a:prstGeom>
          <a:solidFill>
            <a:srgbClr val="FAFAFA"/>
          </a:solidFill>
          <a:ln w="17780">
            <a:solidFill>
              <a:srgbClr val="33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/>
          <a:lstStyle/>
          <a:p>
            <a:pPr algn="l"/>
            <a:r>
              <a:rPr sz="1500" b="1">
                <a:solidFill>
                  <a:srgbClr val="333434"/>
                </a:solidFill>
                <a:latin typeface="Arial"/>
              </a:rPr>
              <a:t>Input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1508760"/>
            <a:ext cx="2514600" cy="5074920"/>
          </a:xfrm>
          <a:prstGeom prst="roundRect">
            <a:avLst/>
          </a:prstGeom>
          <a:solidFill>
            <a:srgbClr val="F7FBFF"/>
          </a:solidFill>
          <a:ln w="17780">
            <a:solidFill>
              <a:srgbClr val="33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/>
          <a:lstStyle/>
          <a:p>
            <a:pPr algn="l"/>
            <a:r>
              <a:rPr sz="1500" b="1">
                <a:solidFill>
                  <a:srgbClr val="333434"/>
                </a:solidFill>
                <a:latin typeface="Arial"/>
              </a:rPr>
              <a:t>Synthetic generators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148840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148840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2148840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97864" y="2148840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16736" y="2148840"/>
            <a:ext cx="101890" cy="106070"/>
          </a:xfrm>
          <a:prstGeom prst="rect">
            <a:avLst/>
          </a:prstGeom>
          <a:solidFill>
            <a:srgbClr val="F091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35608" y="2148840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281428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2281428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2281428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7864" y="2281428"/>
            <a:ext cx="101890" cy="106070"/>
          </a:xfrm>
          <a:prstGeom prst="rect">
            <a:avLst/>
          </a:prstGeom>
          <a:solidFill>
            <a:srgbClr val="F091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16736" y="2281428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35608" y="2281428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414016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2414016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2414016"/>
            <a:ext cx="101890" cy="106070"/>
          </a:xfrm>
          <a:prstGeom prst="rect">
            <a:avLst/>
          </a:prstGeom>
          <a:solidFill>
            <a:srgbClr val="F091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97864" y="2414016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16736" y="2414016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35608" y="2414016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" y="2546604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" y="2546604"/>
            <a:ext cx="101890" cy="106070"/>
          </a:xfrm>
          <a:prstGeom prst="rect">
            <a:avLst/>
          </a:prstGeom>
          <a:solidFill>
            <a:srgbClr val="F091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" y="2546604"/>
            <a:ext cx="101890" cy="106070"/>
          </a:xfrm>
          <a:prstGeom prst="rect">
            <a:avLst/>
          </a:prstGeom>
          <a:solidFill>
            <a:srgbClr val="F7C5B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97864" y="2546604"/>
            <a:ext cx="101890" cy="106070"/>
          </a:xfrm>
          <a:prstGeom prst="rect">
            <a:avLst/>
          </a:prstGeom>
          <a:solidFill>
            <a:srgbClr val="F5B89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16736" y="2546604"/>
            <a:ext cx="101890" cy="106070"/>
          </a:xfrm>
          <a:prstGeom prst="rect">
            <a:avLst/>
          </a:prstGeom>
          <a:solidFill>
            <a:srgbClr val="F4AB8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35608" y="2546604"/>
            <a:ext cx="101890" cy="106070"/>
          </a:xfrm>
          <a:prstGeom prst="rect">
            <a:avLst/>
          </a:prstGeom>
          <a:solidFill>
            <a:srgbClr val="F29E7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755648" y="2313432"/>
            <a:ext cx="210312" cy="210312"/>
          </a:xfrm>
          <a:prstGeom prst="ellipse">
            <a:avLst/>
          </a:prstGeom>
          <a:solidFill>
            <a:srgbClr val="EA5C1F"/>
          </a:solidFill>
          <a:ln w="15240">
            <a:solidFill>
              <a:srgbClr val="EA5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1" y="2240280"/>
            <a:ext cx="96012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A5C1F"/>
                </a:solidFill>
                <a:latin typeface="Arial"/>
              </a:rPr>
              <a:t>HIV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1" y="2542032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646464"/>
                </a:solidFill>
                <a:latin typeface="Arial"/>
              </a:rPr>
              <a:t>real X, 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" y="3291840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" y="3291840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78992" y="3291840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97864" y="3291840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316736" y="3291840"/>
            <a:ext cx="101890" cy="106070"/>
          </a:xfrm>
          <a:prstGeom prst="rect">
            <a:avLst/>
          </a:prstGeom>
          <a:solidFill>
            <a:srgbClr val="67CA5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35608" y="3291840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1248" y="3424428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0120" y="3424428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78992" y="3424428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97864" y="3424428"/>
            <a:ext cx="101890" cy="106070"/>
          </a:xfrm>
          <a:prstGeom prst="rect">
            <a:avLst/>
          </a:prstGeom>
          <a:solidFill>
            <a:srgbClr val="67CA5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16736" y="3424428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35608" y="3424428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1248" y="3557016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0120" y="3557016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78992" y="3557016"/>
            <a:ext cx="101890" cy="106070"/>
          </a:xfrm>
          <a:prstGeom prst="rect">
            <a:avLst/>
          </a:prstGeom>
          <a:solidFill>
            <a:srgbClr val="67CA5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7864" y="3557016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316736" y="3557016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435608" y="3557016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1248" y="3689604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0120" y="3689604"/>
            <a:ext cx="101890" cy="106070"/>
          </a:xfrm>
          <a:prstGeom prst="rect">
            <a:avLst/>
          </a:prstGeom>
          <a:solidFill>
            <a:srgbClr val="67CA5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8992" y="3689604"/>
            <a:ext cx="101890" cy="106070"/>
          </a:xfrm>
          <a:prstGeom prst="rect">
            <a:avLst/>
          </a:prstGeom>
          <a:solidFill>
            <a:srgbClr val="AFE3A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97864" y="3689604"/>
            <a:ext cx="101890" cy="106070"/>
          </a:xfrm>
          <a:prstGeom prst="rect">
            <a:avLst/>
          </a:prstGeom>
          <a:solidFill>
            <a:srgbClr val="9DDD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316736" y="3689604"/>
            <a:ext cx="101890" cy="106070"/>
          </a:xfrm>
          <a:prstGeom prst="rect">
            <a:avLst/>
          </a:prstGeom>
          <a:solidFill>
            <a:srgbClr val="8BD77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35608" y="3689604"/>
            <a:ext cx="101890" cy="106070"/>
          </a:xfrm>
          <a:prstGeom prst="rect">
            <a:avLst/>
          </a:prstGeom>
          <a:solidFill>
            <a:srgbClr val="79D06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755648" y="3456432"/>
            <a:ext cx="210312" cy="210312"/>
          </a:xfrm>
          <a:prstGeom prst="ellipse">
            <a:avLst/>
          </a:prstGeom>
          <a:solidFill>
            <a:srgbClr val="1DB100"/>
          </a:solidFill>
          <a:ln w="15240">
            <a:solidFill>
              <a:srgbClr val="1DB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84831" y="3383280"/>
            <a:ext cx="96012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DB100"/>
                </a:solidFill>
                <a:latin typeface="Arial"/>
              </a:rPr>
              <a:t>Breast Cancer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84831" y="3685032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646464"/>
                </a:solidFill>
                <a:latin typeface="Arial"/>
              </a:rPr>
              <a:t>real X, 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" y="4434840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60120" y="4434840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8992" y="4434840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97864" y="4434840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16736" y="4434840"/>
            <a:ext cx="101890" cy="106070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435608" y="4434840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1248" y="4567427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60120" y="4567427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8992" y="4567427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97864" y="4567427"/>
            <a:ext cx="101890" cy="106070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316736" y="4567427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435608" y="4567427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41248" y="4700016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120" y="4700016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78992" y="4700016"/>
            <a:ext cx="101890" cy="106070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97864" y="4700016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316736" y="4700016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435608" y="4700016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1248" y="4832603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0120" y="4832603"/>
            <a:ext cx="101890" cy="106070"/>
          </a:xfrm>
          <a:prstGeom prst="rect">
            <a:avLst/>
          </a:prstGeom>
          <a:solidFill>
            <a:srgbClr val="54A3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8992" y="4832603"/>
            <a:ext cx="101890" cy="106070"/>
          </a:xfrm>
          <a:prstGeom prst="rect">
            <a:avLst/>
          </a:prstGeom>
          <a:solidFill>
            <a:srgbClr val="A5CFE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97864" y="4832603"/>
            <a:ext cx="101890" cy="106070"/>
          </a:xfrm>
          <a:prstGeom prst="rect">
            <a:avLst/>
          </a:prstGeom>
          <a:solidFill>
            <a:srgbClr val="91C4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16736" y="4832603"/>
            <a:ext cx="101890" cy="106070"/>
          </a:xfrm>
          <a:prstGeom prst="rect">
            <a:avLst/>
          </a:prstGeom>
          <a:solidFill>
            <a:srgbClr val="7CB9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435608" y="4832603"/>
            <a:ext cx="101890" cy="106070"/>
          </a:xfrm>
          <a:prstGeom prst="rect">
            <a:avLst/>
          </a:prstGeom>
          <a:solidFill>
            <a:srgbClr val="68AED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755648" y="4599431"/>
            <a:ext cx="210312" cy="210312"/>
          </a:xfrm>
          <a:prstGeom prst="ellipse">
            <a:avLst/>
          </a:prstGeom>
          <a:solidFill>
            <a:srgbClr val="0076BA"/>
          </a:solidFill>
          <a:ln w="1524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84831" y="4526279"/>
            <a:ext cx="96012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0076BA"/>
                </a:solidFill>
                <a:latin typeface="Arial"/>
              </a:rPr>
              <a:t>Diabetes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84831" y="4828031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646464"/>
                </a:solidFill>
                <a:latin typeface="Arial"/>
              </a:rPr>
              <a:t>real X, y</a:t>
            </a:r>
          </a:p>
        </p:txBody>
      </p:sp>
      <p:sp>
        <p:nvSpPr>
          <p:cNvPr id="89" name="Oval 88"/>
          <p:cNvSpPr/>
          <p:nvPr/>
        </p:nvSpPr>
        <p:spPr>
          <a:xfrm>
            <a:off x="4462272" y="2148840"/>
            <a:ext cx="256032" cy="256032"/>
          </a:xfrm>
          <a:prstGeom prst="ellipse">
            <a:avLst/>
          </a:prstGeom>
          <a:solidFill>
            <a:srgbClr val="6A5ACD"/>
          </a:solidFill>
          <a:ln w="1524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64608" y="2130552"/>
            <a:ext cx="132588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6A5ACD"/>
                </a:solidFill>
                <a:latin typeface="Arial"/>
              </a:rPr>
              <a:t>Bootstrap</a:t>
            </a:r>
          </a:p>
        </p:txBody>
      </p:sp>
      <p:sp>
        <p:nvSpPr>
          <p:cNvPr id="91" name="Oval 90"/>
          <p:cNvSpPr/>
          <p:nvPr/>
        </p:nvSpPr>
        <p:spPr>
          <a:xfrm>
            <a:off x="4462272" y="2926080"/>
            <a:ext cx="256032" cy="256032"/>
          </a:xfrm>
          <a:prstGeom prst="ellipse">
            <a:avLst/>
          </a:prstGeom>
          <a:solidFill>
            <a:srgbClr val="CC79A7"/>
          </a:solidFill>
          <a:ln w="15240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64608" y="2907792"/>
            <a:ext cx="132588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CC79A7"/>
                </a:solidFill>
                <a:latin typeface="Arial"/>
              </a:rPr>
              <a:t>Column-wise</a:t>
            </a:r>
          </a:p>
        </p:txBody>
      </p:sp>
      <p:sp>
        <p:nvSpPr>
          <p:cNvPr id="93" name="Oval 92"/>
          <p:cNvSpPr/>
          <p:nvPr/>
        </p:nvSpPr>
        <p:spPr>
          <a:xfrm>
            <a:off x="4462272" y="3703320"/>
            <a:ext cx="256032" cy="256032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864608" y="3685032"/>
            <a:ext cx="132588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009E73"/>
                </a:solidFill>
                <a:latin typeface="Arial"/>
              </a:rPr>
              <a:t>GMM</a:t>
            </a:r>
          </a:p>
        </p:txBody>
      </p:sp>
      <p:sp>
        <p:nvSpPr>
          <p:cNvPr id="95" name="Oval 94"/>
          <p:cNvSpPr/>
          <p:nvPr/>
        </p:nvSpPr>
        <p:spPr>
          <a:xfrm>
            <a:off x="4462272" y="4480560"/>
            <a:ext cx="256032" cy="256032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64608" y="4462272"/>
            <a:ext cx="1325880" cy="2743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D55E00"/>
                </a:solidFill>
                <a:latin typeface="Arial"/>
              </a:rPr>
              <a:t>CVAE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3511296" y="4041648"/>
            <a:ext cx="402336" cy="0"/>
          </a:xfrm>
          <a:prstGeom prst="line">
            <a:avLst/>
          </a:prstGeom>
          <a:ln w="25400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6729984" y="4041648"/>
            <a:ext cx="420624" cy="0"/>
          </a:xfrm>
          <a:prstGeom prst="line">
            <a:avLst/>
          </a:prstGeom>
          <a:ln w="25400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594360" y="7516368"/>
            <a:ext cx="13441680" cy="25603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/>
            <a:r>
              <a:rPr sz="950" b="0">
                <a:solidFill>
                  <a:srgbClr val="646464"/>
                </a:solidFill>
                <a:latin typeface="Arial"/>
              </a:rPr>
              <a:t>All text, boxes, arrows, markers, and mini-panels are editable PowerPoint objects.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11475720" y="1508760"/>
            <a:ext cx="2423160" cy="5074920"/>
          </a:xfrm>
          <a:prstGeom prst="roundRect">
            <a:avLst/>
          </a:prstGeom>
          <a:solidFill>
            <a:srgbClr val="FFF8EF"/>
          </a:solidFill>
          <a:ln w="17145">
            <a:solidFill>
              <a:srgbClr val="33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2860" bIns="22860"/>
          <a:lstStyle/>
          <a:p>
            <a:pPr algn="l"/>
            <a:r>
              <a:rPr sz="1500" b="1">
                <a:solidFill>
                  <a:srgbClr val="333434"/>
                </a:solidFill>
                <a:latin typeface="Arial"/>
              </a:rPr>
              <a:t>Stress tests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11759184" y="2029968"/>
            <a:ext cx="1783080" cy="1700784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1814048" y="2093976"/>
            <a:ext cx="1673352" cy="182880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950" b="1">
                <a:solidFill>
                  <a:srgbClr val="333434"/>
                </a:solidFill>
                <a:latin typeface="Arial"/>
              </a:rPr>
              <a:t>Noise sensitivity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11996928" y="3310128"/>
            <a:ext cx="1389887" cy="0"/>
          </a:xfrm>
          <a:prstGeom prst="line">
            <a:avLst/>
          </a:prstGeom>
          <a:ln w="952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11996928" y="2395728"/>
            <a:ext cx="0" cy="914400"/>
          </a:xfrm>
          <a:prstGeom prst="line">
            <a:avLst/>
          </a:prstGeom>
          <a:ln w="952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11996928" y="3008376"/>
            <a:ext cx="1389887" cy="0"/>
          </a:xfrm>
          <a:prstGeom prst="line">
            <a:avLst/>
          </a:prstGeom>
          <a:ln w="444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11996928" y="2706624"/>
            <a:ext cx="1389887" cy="0"/>
          </a:xfrm>
          <a:prstGeom prst="line">
            <a:avLst/>
          </a:prstGeom>
          <a:ln w="444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12274905" y="3342132"/>
            <a:ext cx="945123" cy="100584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sigma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1823192" y="2651760"/>
            <a:ext cx="164592" cy="109728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AUC</a:t>
            </a:r>
          </a:p>
        </p:txBody>
      </p:sp>
      <p:cxnSp>
        <p:nvCxnSpPr>
          <p:cNvPr id="299" name="Connector 298"/>
          <p:cNvCxnSpPr/>
          <p:nvPr/>
        </p:nvCxnSpPr>
        <p:spPr>
          <a:xfrm>
            <a:off x="11996928" y="2898648"/>
            <a:ext cx="1389887" cy="0"/>
          </a:xfrm>
          <a:prstGeom prst="line">
            <a:avLst/>
          </a:prstGeom>
          <a:ln w="8890">
            <a:solidFill>
              <a:srgbClr val="CDCD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2052523" y="2542032"/>
            <a:ext cx="333573" cy="36576"/>
          </a:xfrm>
          <a:prstGeom prst="line">
            <a:avLst/>
          </a:prstGeom>
          <a:ln w="14604">
            <a:solidFill>
              <a:srgbClr val="6A5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2386096" y="2578608"/>
            <a:ext cx="333573" cy="73152"/>
          </a:xfrm>
          <a:prstGeom prst="line">
            <a:avLst/>
          </a:prstGeom>
          <a:ln w="14604">
            <a:solidFill>
              <a:srgbClr val="6A5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12719669" y="2651760"/>
            <a:ext cx="333573" cy="91440"/>
          </a:xfrm>
          <a:prstGeom prst="line">
            <a:avLst/>
          </a:prstGeom>
          <a:ln w="14604">
            <a:solidFill>
              <a:srgbClr val="6A5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13053242" y="2743200"/>
            <a:ext cx="277978" cy="64008"/>
          </a:xfrm>
          <a:prstGeom prst="line">
            <a:avLst/>
          </a:prstGeom>
          <a:ln w="14604">
            <a:solidFill>
              <a:srgbClr val="6A5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Oval 303"/>
          <p:cNvSpPr/>
          <p:nvPr/>
        </p:nvSpPr>
        <p:spPr>
          <a:xfrm>
            <a:off x="12032406" y="2521915"/>
            <a:ext cx="40233" cy="40233"/>
          </a:xfrm>
          <a:prstGeom prst="ellipse">
            <a:avLst/>
          </a:prstGeom>
          <a:solidFill>
            <a:srgbClr val="6A5ACD"/>
          </a:solidFill>
          <a:ln w="1143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2365979" y="2558491"/>
            <a:ext cx="40233" cy="40233"/>
          </a:xfrm>
          <a:prstGeom prst="ellipse">
            <a:avLst/>
          </a:prstGeom>
          <a:solidFill>
            <a:srgbClr val="6A5ACD"/>
          </a:solidFill>
          <a:ln w="1143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2699552" y="2631643"/>
            <a:ext cx="40233" cy="40233"/>
          </a:xfrm>
          <a:prstGeom prst="ellipse">
            <a:avLst/>
          </a:prstGeom>
          <a:solidFill>
            <a:srgbClr val="6A5ACD"/>
          </a:solidFill>
          <a:ln w="1143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3033126" y="2723083"/>
            <a:ext cx="40233" cy="40233"/>
          </a:xfrm>
          <a:prstGeom prst="ellipse">
            <a:avLst/>
          </a:prstGeom>
          <a:solidFill>
            <a:srgbClr val="6A5ACD"/>
          </a:solidFill>
          <a:ln w="1143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3311103" y="2787091"/>
            <a:ext cx="40233" cy="40233"/>
          </a:xfrm>
          <a:prstGeom prst="ellipse">
            <a:avLst/>
          </a:prstGeom>
          <a:solidFill>
            <a:srgbClr val="6A5ACD"/>
          </a:solidFill>
          <a:ln w="1143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9" name="Connector 308"/>
          <p:cNvCxnSpPr/>
          <p:nvPr/>
        </p:nvCxnSpPr>
        <p:spPr>
          <a:xfrm>
            <a:off x="12052523" y="2596896"/>
            <a:ext cx="333573" cy="18288"/>
          </a:xfrm>
          <a:prstGeom prst="line">
            <a:avLst/>
          </a:prstGeom>
          <a:ln w="14604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2386096" y="2615184"/>
            <a:ext cx="333573" cy="54864"/>
          </a:xfrm>
          <a:prstGeom prst="line">
            <a:avLst/>
          </a:prstGeom>
          <a:ln w="14604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2719669" y="2670048"/>
            <a:ext cx="333573" cy="36576"/>
          </a:xfrm>
          <a:prstGeom prst="line">
            <a:avLst/>
          </a:prstGeom>
          <a:ln w="14604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13053242" y="2706624"/>
            <a:ext cx="277978" cy="54864"/>
          </a:xfrm>
          <a:prstGeom prst="line">
            <a:avLst/>
          </a:prstGeom>
          <a:ln w="14604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Oval 312"/>
          <p:cNvSpPr/>
          <p:nvPr/>
        </p:nvSpPr>
        <p:spPr>
          <a:xfrm>
            <a:off x="12032406" y="2576779"/>
            <a:ext cx="40233" cy="40233"/>
          </a:xfrm>
          <a:prstGeom prst="ellipse">
            <a:avLst/>
          </a:prstGeom>
          <a:solidFill>
            <a:srgbClr val="009E73"/>
          </a:solidFill>
          <a:ln w="1143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2365979" y="2595067"/>
            <a:ext cx="40233" cy="40233"/>
          </a:xfrm>
          <a:prstGeom prst="ellipse">
            <a:avLst/>
          </a:prstGeom>
          <a:solidFill>
            <a:srgbClr val="009E73"/>
          </a:solidFill>
          <a:ln w="1143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2699552" y="2649931"/>
            <a:ext cx="40233" cy="40233"/>
          </a:xfrm>
          <a:prstGeom prst="ellipse">
            <a:avLst/>
          </a:prstGeom>
          <a:solidFill>
            <a:srgbClr val="009E73"/>
          </a:solidFill>
          <a:ln w="1143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3033126" y="2686507"/>
            <a:ext cx="40233" cy="40233"/>
          </a:xfrm>
          <a:prstGeom prst="ellipse">
            <a:avLst/>
          </a:prstGeom>
          <a:solidFill>
            <a:srgbClr val="009E73"/>
          </a:solidFill>
          <a:ln w="1143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3311103" y="2741371"/>
            <a:ext cx="40233" cy="40233"/>
          </a:xfrm>
          <a:prstGeom prst="ellipse">
            <a:avLst/>
          </a:prstGeom>
          <a:solidFill>
            <a:srgbClr val="009E73"/>
          </a:solidFill>
          <a:ln w="1143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12052523" y="2670048"/>
            <a:ext cx="333573" cy="18288"/>
          </a:xfrm>
          <a:prstGeom prst="line">
            <a:avLst/>
          </a:prstGeom>
          <a:ln w="14604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12386096" y="2688336"/>
            <a:ext cx="333573" cy="36576"/>
          </a:xfrm>
          <a:prstGeom prst="line">
            <a:avLst/>
          </a:prstGeom>
          <a:ln w="14604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12719669" y="2724912"/>
            <a:ext cx="333573" cy="54864"/>
          </a:xfrm>
          <a:prstGeom prst="line">
            <a:avLst/>
          </a:prstGeom>
          <a:ln w="14604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13053242" y="2779776"/>
            <a:ext cx="277978" cy="36576"/>
          </a:xfrm>
          <a:prstGeom prst="line">
            <a:avLst/>
          </a:prstGeom>
          <a:ln w="14604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Oval 321"/>
          <p:cNvSpPr/>
          <p:nvPr/>
        </p:nvSpPr>
        <p:spPr>
          <a:xfrm>
            <a:off x="12032406" y="2649931"/>
            <a:ext cx="40233" cy="40233"/>
          </a:xfrm>
          <a:prstGeom prst="ellipse">
            <a:avLst/>
          </a:prstGeom>
          <a:solidFill>
            <a:srgbClr val="D55E00"/>
          </a:solidFill>
          <a:ln w="1143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12365979" y="2668219"/>
            <a:ext cx="40233" cy="40233"/>
          </a:xfrm>
          <a:prstGeom prst="ellipse">
            <a:avLst/>
          </a:prstGeom>
          <a:solidFill>
            <a:srgbClr val="D55E00"/>
          </a:solidFill>
          <a:ln w="1143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12699552" y="2704795"/>
            <a:ext cx="40233" cy="40233"/>
          </a:xfrm>
          <a:prstGeom prst="ellipse">
            <a:avLst/>
          </a:prstGeom>
          <a:solidFill>
            <a:srgbClr val="D55E00"/>
          </a:solidFill>
          <a:ln w="1143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13033126" y="2759659"/>
            <a:ext cx="40233" cy="40233"/>
          </a:xfrm>
          <a:prstGeom prst="ellipse">
            <a:avLst/>
          </a:prstGeom>
          <a:solidFill>
            <a:srgbClr val="D55E00"/>
          </a:solidFill>
          <a:ln w="1143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13311103" y="2796235"/>
            <a:ext cx="40233" cy="40233"/>
          </a:xfrm>
          <a:prstGeom prst="ellipse">
            <a:avLst/>
          </a:prstGeom>
          <a:solidFill>
            <a:srgbClr val="D55E00"/>
          </a:solidFill>
          <a:ln w="1143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ounded Rectangle 326"/>
          <p:cNvSpPr/>
          <p:nvPr/>
        </p:nvSpPr>
        <p:spPr>
          <a:xfrm>
            <a:off x="11759184" y="4370832"/>
            <a:ext cx="1783080" cy="1700784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11814048" y="4434840"/>
            <a:ext cx="1673352" cy="182880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950" b="1">
                <a:solidFill>
                  <a:srgbClr val="333434"/>
                </a:solidFill>
                <a:latin typeface="Arial"/>
              </a:rPr>
              <a:t>Reverse ablation</a:t>
            </a:r>
          </a:p>
        </p:txBody>
      </p:sp>
      <p:cxnSp>
        <p:nvCxnSpPr>
          <p:cNvPr id="329" name="Connector 328"/>
          <p:cNvCxnSpPr/>
          <p:nvPr/>
        </p:nvCxnSpPr>
        <p:spPr>
          <a:xfrm>
            <a:off x="11996928" y="5650992"/>
            <a:ext cx="1389887" cy="0"/>
          </a:xfrm>
          <a:prstGeom prst="line">
            <a:avLst/>
          </a:prstGeom>
          <a:ln w="952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1996928" y="4736592"/>
            <a:ext cx="0" cy="914400"/>
          </a:xfrm>
          <a:prstGeom prst="line">
            <a:avLst/>
          </a:prstGeom>
          <a:ln w="952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1996928" y="5349240"/>
            <a:ext cx="1389887" cy="0"/>
          </a:xfrm>
          <a:prstGeom prst="line">
            <a:avLst/>
          </a:prstGeom>
          <a:ln w="444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1996928" y="5047488"/>
            <a:ext cx="1389887" cy="0"/>
          </a:xfrm>
          <a:prstGeom prst="line">
            <a:avLst/>
          </a:prstGeom>
          <a:ln w="444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TextBox 332"/>
          <p:cNvSpPr txBox="1"/>
          <p:nvPr/>
        </p:nvSpPr>
        <p:spPr>
          <a:xfrm>
            <a:off x="12274905" y="5682996"/>
            <a:ext cx="945123" cy="100584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features removed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1823192" y="4992624"/>
            <a:ext cx="164592" cy="109728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580" b="0">
                <a:solidFill>
                  <a:srgbClr val="5F5F5F"/>
                </a:solidFill>
                <a:latin typeface="Arial"/>
              </a:rPr>
              <a:t>AUC</a:t>
            </a:r>
          </a:p>
        </p:txBody>
      </p:sp>
      <p:cxnSp>
        <p:nvCxnSpPr>
          <p:cNvPr id="335" name="Connector 334"/>
          <p:cNvCxnSpPr/>
          <p:nvPr/>
        </p:nvCxnSpPr>
        <p:spPr>
          <a:xfrm>
            <a:off x="11996928" y="5239512"/>
            <a:ext cx="1389887" cy="0"/>
          </a:xfrm>
          <a:prstGeom prst="line">
            <a:avLst/>
          </a:prstGeom>
          <a:ln w="8890">
            <a:solidFill>
              <a:srgbClr val="CDCD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2052523" y="4846320"/>
            <a:ext cx="222382" cy="73152"/>
          </a:xfrm>
          <a:prstGeom prst="line">
            <a:avLst/>
          </a:prstGeom>
          <a:ln w="17145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2274905" y="4919472"/>
            <a:ext cx="250180" cy="91440"/>
          </a:xfrm>
          <a:prstGeom prst="line">
            <a:avLst/>
          </a:prstGeom>
          <a:ln w="17145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2525085" y="5010912"/>
            <a:ext cx="277978" cy="73152"/>
          </a:xfrm>
          <a:prstGeom prst="line">
            <a:avLst/>
          </a:prstGeom>
          <a:ln w="17145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2803063" y="5084064"/>
            <a:ext cx="277977" cy="54864"/>
          </a:xfrm>
          <a:prstGeom prst="line">
            <a:avLst/>
          </a:prstGeom>
          <a:ln w="17145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3081040" y="5138928"/>
            <a:ext cx="250180" cy="36576"/>
          </a:xfrm>
          <a:prstGeom prst="line">
            <a:avLst/>
          </a:prstGeom>
          <a:ln w="17145">
            <a:solidFill>
              <a:srgbClr val="0076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Oval 340"/>
          <p:cNvSpPr/>
          <p:nvPr/>
        </p:nvSpPr>
        <p:spPr>
          <a:xfrm>
            <a:off x="12032406" y="4826203"/>
            <a:ext cx="40233" cy="40233"/>
          </a:xfrm>
          <a:prstGeom prst="ellipse">
            <a:avLst/>
          </a:prstGeom>
          <a:solidFill>
            <a:srgbClr val="0076BA"/>
          </a:solidFill>
          <a:ln w="1143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2254788" y="4899355"/>
            <a:ext cx="40233" cy="40233"/>
          </a:xfrm>
          <a:prstGeom prst="ellipse">
            <a:avLst/>
          </a:prstGeom>
          <a:solidFill>
            <a:srgbClr val="0076BA"/>
          </a:solidFill>
          <a:ln w="1143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2504968" y="4990795"/>
            <a:ext cx="40233" cy="40233"/>
          </a:xfrm>
          <a:prstGeom prst="ellipse">
            <a:avLst/>
          </a:prstGeom>
          <a:solidFill>
            <a:srgbClr val="0076BA"/>
          </a:solidFill>
          <a:ln w="1143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12782946" y="5063947"/>
            <a:ext cx="40233" cy="40233"/>
          </a:xfrm>
          <a:prstGeom prst="ellipse">
            <a:avLst/>
          </a:prstGeom>
          <a:solidFill>
            <a:srgbClr val="0076BA"/>
          </a:solidFill>
          <a:ln w="1143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3060923" y="5118811"/>
            <a:ext cx="40233" cy="40233"/>
          </a:xfrm>
          <a:prstGeom prst="ellipse">
            <a:avLst/>
          </a:prstGeom>
          <a:solidFill>
            <a:srgbClr val="0076BA"/>
          </a:solidFill>
          <a:ln w="1143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13311103" y="5155387"/>
            <a:ext cx="40233" cy="40233"/>
          </a:xfrm>
          <a:prstGeom prst="ellipse">
            <a:avLst/>
          </a:prstGeom>
          <a:solidFill>
            <a:srgbClr val="0076BA"/>
          </a:solidFill>
          <a:ln w="11430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2051792" y="5724144"/>
            <a:ext cx="59436" cy="50292"/>
          </a:xfrm>
          <a:prstGeom prst="rect">
            <a:avLst/>
          </a:prstGeom>
          <a:solidFill>
            <a:srgbClr val="FFFFFF"/>
          </a:solidFill>
          <a:ln w="444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2170664" y="5724144"/>
            <a:ext cx="59436" cy="50292"/>
          </a:xfrm>
          <a:prstGeom prst="rect">
            <a:avLst/>
          </a:prstGeom>
          <a:solidFill>
            <a:srgbClr val="FFFFFF"/>
          </a:solidFill>
          <a:ln w="444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2289536" y="5724144"/>
            <a:ext cx="59436" cy="50292"/>
          </a:xfrm>
          <a:prstGeom prst="rect">
            <a:avLst/>
          </a:prstGeom>
          <a:solidFill>
            <a:srgbClr val="FFFFFF"/>
          </a:solidFill>
          <a:ln w="444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2408408" y="5724144"/>
            <a:ext cx="59436" cy="50292"/>
          </a:xfrm>
          <a:prstGeom prst="rect">
            <a:avLst/>
          </a:prstGeom>
          <a:solidFill>
            <a:srgbClr val="FFFFFF"/>
          </a:solidFill>
          <a:ln w="444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2527280" y="5724144"/>
            <a:ext cx="59436" cy="50292"/>
          </a:xfrm>
          <a:prstGeom prst="rect">
            <a:avLst/>
          </a:prstGeom>
          <a:solidFill>
            <a:srgbClr val="FFFFFF"/>
          </a:solidFill>
          <a:ln w="444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11722608" y="6172200"/>
            <a:ext cx="1828800" cy="164592"/>
          </a:xfrm>
          <a:prstGeom prst="rect">
            <a:avLst/>
          </a:prstGeom>
          <a:noFill/>
        </p:spPr>
        <p:txBody>
          <a:bodyPr wrap="none" lIns="54864" rIns="54864" tIns="22860" bIns="22860" anchor="ctr">
            <a:spAutoFit/>
          </a:bodyPr>
          <a:lstStyle/>
          <a:p>
            <a:pPr algn="ctr"/>
            <a:r>
              <a:rPr sz="780" b="0">
                <a:solidFill>
                  <a:srgbClr val="5F5F5F"/>
                </a:solidFill>
                <a:latin typeface="Arial"/>
              </a:rPr>
              <a:t>robustness under perturbation</a:t>
            </a:r>
          </a:p>
        </p:txBody>
      </p:sp>
      <p:cxnSp>
        <p:nvCxnSpPr>
          <p:cNvPr id="353" name="Connector 352"/>
          <p:cNvCxnSpPr/>
          <p:nvPr/>
        </p:nvCxnSpPr>
        <p:spPr>
          <a:xfrm>
            <a:off x="6729984" y="4041648"/>
            <a:ext cx="420624" cy="0"/>
          </a:xfrm>
          <a:prstGeom prst="line">
            <a:avLst/>
          </a:prstGeom>
          <a:ln w="25400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Rounded Rectangle 353"/>
          <p:cNvSpPr/>
          <p:nvPr/>
        </p:nvSpPr>
        <p:spPr>
          <a:xfrm>
            <a:off x="7315200" y="1508760"/>
            <a:ext cx="3246120" cy="50749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33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18288"/>
          <a:lstStyle/>
          <a:p>
            <a:pPr algn="l"/>
            <a:r>
              <a:rPr sz="1500" b="1">
                <a:solidFill>
                  <a:srgbClr val="333434"/>
                </a:solidFill>
                <a:latin typeface="Arial"/>
              </a:rPr>
              <a:t>Evaluation hierarchy</a:t>
            </a:r>
          </a:p>
        </p:txBody>
      </p:sp>
      <p:sp>
        <p:nvSpPr>
          <p:cNvPr id="355" name="Rounded Rectangle 354"/>
          <p:cNvSpPr/>
          <p:nvPr/>
        </p:nvSpPr>
        <p:spPr>
          <a:xfrm>
            <a:off x="7552944" y="1993392"/>
            <a:ext cx="1207008" cy="144475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7607808" y="2057400"/>
            <a:ext cx="109728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960" b="1">
                <a:solidFill>
                  <a:srgbClr val="0076BA"/>
                </a:solidFill>
                <a:latin typeface="Arial"/>
              </a:rPr>
              <a:t>Geometry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7589519" y="3227832"/>
            <a:ext cx="1133856" cy="12801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640" b="0">
                <a:solidFill>
                  <a:srgbClr val="5F5F5F"/>
                </a:solidFill>
                <a:latin typeface="Arial"/>
              </a:rPr>
              <a:t>PCA overlap</a:t>
            </a:r>
          </a:p>
        </p:txBody>
      </p:sp>
      <p:cxnSp>
        <p:nvCxnSpPr>
          <p:cNvPr id="358" name="Connector 357"/>
          <p:cNvCxnSpPr/>
          <p:nvPr/>
        </p:nvCxnSpPr>
        <p:spPr>
          <a:xfrm>
            <a:off x="7735823" y="3017520"/>
            <a:ext cx="859536" cy="0"/>
          </a:xfrm>
          <a:prstGeom prst="line">
            <a:avLst/>
          </a:prstGeom>
          <a:ln w="825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7735823" y="2377440"/>
            <a:ext cx="0" cy="640080"/>
          </a:xfrm>
          <a:prstGeom prst="line">
            <a:avLst/>
          </a:prstGeom>
          <a:ln w="825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TextBox 359"/>
          <p:cNvSpPr txBox="1"/>
          <p:nvPr/>
        </p:nvSpPr>
        <p:spPr>
          <a:xfrm>
            <a:off x="7924921" y="3049524"/>
            <a:ext cx="532912" cy="914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540" b="0">
                <a:solidFill>
                  <a:srgbClr val="5F5F5F"/>
                </a:solidFill>
                <a:latin typeface="Arial"/>
              </a:rPr>
              <a:t>PC1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7589519" y="2556662"/>
            <a:ext cx="137160" cy="914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540" b="0">
                <a:solidFill>
                  <a:srgbClr val="5F5F5F"/>
                </a:solidFill>
                <a:latin typeface="Arial"/>
              </a:rPr>
              <a:t>PC2</a:t>
            </a:r>
          </a:p>
        </p:txBody>
      </p:sp>
      <p:sp>
        <p:nvSpPr>
          <p:cNvPr id="362" name="Oval 361"/>
          <p:cNvSpPr/>
          <p:nvPr/>
        </p:nvSpPr>
        <p:spPr>
          <a:xfrm>
            <a:off x="7904805" y="2613355"/>
            <a:ext cx="40233" cy="40233"/>
          </a:xfrm>
          <a:prstGeom prst="ellipse">
            <a:avLst/>
          </a:prstGeom>
          <a:solidFill>
            <a:srgbClr val="FFFFFF"/>
          </a:solidFill>
          <a:ln w="10795">
            <a:solidFill>
              <a:srgbClr val="9E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7973567" y="2754172"/>
            <a:ext cx="40233" cy="40233"/>
          </a:xfrm>
          <a:prstGeom prst="ellipse">
            <a:avLst/>
          </a:prstGeom>
          <a:solidFill>
            <a:srgbClr val="FFFFFF"/>
          </a:solidFill>
          <a:ln w="10795">
            <a:solidFill>
              <a:srgbClr val="9E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8076712" y="2677363"/>
            <a:ext cx="40233" cy="40233"/>
          </a:xfrm>
          <a:prstGeom prst="ellipse">
            <a:avLst/>
          </a:prstGeom>
          <a:solidFill>
            <a:srgbClr val="FFFFFF"/>
          </a:solidFill>
          <a:ln w="10795">
            <a:solidFill>
              <a:srgbClr val="9E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8128284" y="2818180"/>
            <a:ext cx="40233" cy="40233"/>
          </a:xfrm>
          <a:prstGeom prst="ellipse">
            <a:avLst/>
          </a:prstGeom>
          <a:solidFill>
            <a:srgbClr val="FFFFFF"/>
          </a:solidFill>
          <a:ln w="10795">
            <a:solidFill>
              <a:srgbClr val="9E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8214238" y="2600553"/>
            <a:ext cx="40233" cy="40233"/>
          </a:xfrm>
          <a:prstGeom prst="ellipse">
            <a:avLst/>
          </a:prstGeom>
          <a:solidFill>
            <a:srgbClr val="F4A6A6"/>
          </a:solidFill>
          <a:ln w="10795">
            <a:solidFill>
              <a:srgbClr val="F4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8300191" y="2690164"/>
            <a:ext cx="40233" cy="40233"/>
          </a:xfrm>
          <a:prstGeom prst="ellipse">
            <a:avLst/>
          </a:prstGeom>
          <a:solidFill>
            <a:srgbClr val="F4A6A6"/>
          </a:solidFill>
          <a:ln w="10795">
            <a:solidFill>
              <a:srgbClr val="F4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8386145" y="2581351"/>
            <a:ext cx="40233" cy="40233"/>
          </a:xfrm>
          <a:prstGeom prst="ellipse">
            <a:avLst/>
          </a:prstGeom>
          <a:solidFill>
            <a:srgbClr val="F4A6A6"/>
          </a:solidFill>
          <a:ln w="10795">
            <a:solidFill>
              <a:srgbClr val="F4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8454908" y="2715768"/>
            <a:ext cx="40233" cy="40233"/>
          </a:xfrm>
          <a:prstGeom prst="ellipse">
            <a:avLst/>
          </a:prstGeom>
          <a:solidFill>
            <a:srgbClr val="F4A6A6"/>
          </a:solidFill>
          <a:ln w="10795">
            <a:solidFill>
              <a:srgbClr val="F4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ounded Rectangle 369"/>
          <p:cNvSpPr/>
          <p:nvPr/>
        </p:nvSpPr>
        <p:spPr>
          <a:xfrm>
            <a:off x="9089136" y="1993392"/>
            <a:ext cx="1207008" cy="144475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9144000" y="2057400"/>
            <a:ext cx="109728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960" b="1">
                <a:solidFill>
                  <a:srgbClr val="EA5C1F"/>
                </a:solidFill>
                <a:latin typeface="Arial"/>
              </a:rPr>
              <a:t>Distributions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9125711" y="3227832"/>
            <a:ext cx="1133856" cy="12801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640" b="0">
                <a:solidFill>
                  <a:srgbClr val="5F5F5F"/>
                </a:solidFill>
                <a:latin typeface="Arial"/>
              </a:rPr>
              <a:t>marginal fidelity</a:t>
            </a:r>
          </a:p>
        </p:txBody>
      </p:sp>
      <p:cxnSp>
        <p:nvCxnSpPr>
          <p:cNvPr id="373" name="Connector 372"/>
          <p:cNvCxnSpPr/>
          <p:nvPr/>
        </p:nvCxnSpPr>
        <p:spPr>
          <a:xfrm>
            <a:off x="9272015" y="3017520"/>
            <a:ext cx="859536" cy="0"/>
          </a:xfrm>
          <a:prstGeom prst="line">
            <a:avLst/>
          </a:prstGeom>
          <a:ln w="825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9272015" y="2377440"/>
            <a:ext cx="0" cy="640080"/>
          </a:xfrm>
          <a:prstGeom prst="line">
            <a:avLst/>
          </a:prstGeom>
          <a:ln w="825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TextBox 374"/>
          <p:cNvSpPr txBox="1"/>
          <p:nvPr/>
        </p:nvSpPr>
        <p:spPr>
          <a:xfrm>
            <a:off x="9461113" y="3049524"/>
            <a:ext cx="532912" cy="914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540" b="0">
                <a:solidFill>
                  <a:srgbClr val="5F5F5F"/>
                </a:solidFill>
                <a:latin typeface="Arial"/>
              </a:rPr>
              <a:t>features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9125711" y="2556662"/>
            <a:ext cx="137160" cy="914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540" b="0">
                <a:solidFill>
                  <a:srgbClr val="5F5F5F"/>
                </a:solidFill>
                <a:latin typeface="Arial"/>
              </a:rPr>
              <a:t>density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9336024" y="2857500"/>
            <a:ext cx="50560" cy="160020"/>
          </a:xfrm>
          <a:prstGeom prst="rect">
            <a:avLst/>
          </a:prstGeom>
          <a:solidFill>
            <a:srgbClr val="9EC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9383775" y="2835097"/>
            <a:ext cx="50560" cy="182422"/>
          </a:xfrm>
          <a:prstGeom prst="rect">
            <a:avLst/>
          </a:prstGeom>
          <a:solidFill>
            <a:srgbClr val="F4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9458814" y="2665476"/>
            <a:ext cx="50560" cy="352044"/>
          </a:xfrm>
          <a:prstGeom prst="rect">
            <a:avLst/>
          </a:prstGeom>
          <a:solidFill>
            <a:srgbClr val="9EC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9506566" y="2677637"/>
            <a:ext cx="50560" cy="339882"/>
          </a:xfrm>
          <a:prstGeom prst="rect">
            <a:avLst/>
          </a:prstGeom>
          <a:solidFill>
            <a:srgbClr val="F4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9581605" y="2441448"/>
            <a:ext cx="50560" cy="576072"/>
          </a:xfrm>
          <a:prstGeom prst="rect">
            <a:avLst/>
          </a:prstGeom>
          <a:solidFill>
            <a:srgbClr val="9EC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9629357" y="2493934"/>
            <a:ext cx="50560" cy="523585"/>
          </a:xfrm>
          <a:prstGeom prst="rect">
            <a:avLst/>
          </a:prstGeom>
          <a:solidFill>
            <a:srgbClr val="F4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9704396" y="2582265"/>
            <a:ext cx="50560" cy="435254"/>
          </a:xfrm>
          <a:prstGeom prst="rect">
            <a:avLst/>
          </a:prstGeom>
          <a:solidFill>
            <a:srgbClr val="9EC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9752148" y="2609404"/>
            <a:ext cx="50560" cy="408115"/>
          </a:xfrm>
          <a:prstGeom prst="rect">
            <a:avLst/>
          </a:prstGeom>
          <a:solidFill>
            <a:srgbClr val="F4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9827187" y="2774289"/>
            <a:ext cx="50560" cy="243230"/>
          </a:xfrm>
          <a:prstGeom prst="rect">
            <a:avLst/>
          </a:prstGeom>
          <a:solidFill>
            <a:srgbClr val="9EC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9874939" y="2766864"/>
            <a:ext cx="50560" cy="250655"/>
          </a:xfrm>
          <a:prstGeom prst="rect">
            <a:avLst/>
          </a:prstGeom>
          <a:solidFill>
            <a:srgbClr val="F4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9949978" y="2902305"/>
            <a:ext cx="50560" cy="115214"/>
          </a:xfrm>
          <a:prstGeom prst="rect">
            <a:avLst/>
          </a:prstGeom>
          <a:solidFill>
            <a:srgbClr val="9EC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9997730" y="2871837"/>
            <a:ext cx="50560" cy="145682"/>
          </a:xfrm>
          <a:prstGeom prst="rect">
            <a:avLst/>
          </a:prstGeom>
          <a:solidFill>
            <a:srgbClr val="F4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ounded Rectangle 388"/>
          <p:cNvSpPr/>
          <p:nvPr/>
        </p:nvSpPr>
        <p:spPr>
          <a:xfrm>
            <a:off x="7552944" y="4005072"/>
            <a:ext cx="1207008" cy="144475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7607808" y="4069080"/>
            <a:ext cx="109728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960" b="1">
                <a:solidFill>
                  <a:srgbClr val="1DB100"/>
                </a:solidFill>
                <a:latin typeface="Arial"/>
              </a:rPr>
              <a:t>Structure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7589519" y="5239512"/>
            <a:ext cx="1133856" cy="12801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640" b="0">
                <a:solidFill>
                  <a:srgbClr val="5F5F5F"/>
                </a:solidFill>
                <a:latin typeface="Arial"/>
              </a:rPr>
              <a:t>correlation heatmap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7735823" y="4389120"/>
            <a:ext cx="165030" cy="122895"/>
          </a:xfrm>
          <a:prstGeom prst="rect">
            <a:avLst/>
          </a:prstGeom>
          <a:solidFill>
            <a:srgbClr val="D9A067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7907731" y="4389120"/>
            <a:ext cx="165030" cy="122895"/>
          </a:xfrm>
          <a:prstGeom prst="rect">
            <a:avLst/>
          </a:prstGeom>
          <a:solidFill>
            <a:srgbClr val="E4C1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8079638" y="4389120"/>
            <a:ext cx="165030" cy="122895"/>
          </a:xfrm>
          <a:prstGeom prst="rect">
            <a:avLst/>
          </a:prstGeom>
          <a:solidFill>
            <a:srgbClr val="DDE7E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251545" y="4389120"/>
            <a:ext cx="165030" cy="122895"/>
          </a:xfrm>
          <a:prstGeom prst="rect">
            <a:avLst/>
          </a:prstGeom>
          <a:solidFill>
            <a:srgbClr val="F1E7D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8423452" y="4389120"/>
            <a:ext cx="165030" cy="122895"/>
          </a:xfrm>
          <a:prstGeom prst="rect">
            <a:avLst/>
          </a:prstGeom>
          <a:solidFill>
            <a:srgbClr val="E9D0B4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7735823" y="4517136"/>
            <a:ext cx="165030" cy="122895"/>
          </a:xfrm>
          <a:prstGeom prst="rect">
            <a:avLst/>
          </a:prstGeom>
          <a:solidFill>
            <a:srgbClr val="E4C1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7907731" y="4517136"/>
            <a:ext cx="165030" cy="122895"/>
          </a:xfrm>
          <a:prstGeom prst="rect">
            <a:avLst/>
          </a:prstGeom>
          <a:solidFill>
            <a:srgbClr val="D9A067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8079638" y="4517136"/>
            <a:ext cx="165030" cy="122895"/>
          </a:xfrm>
          <a:prstGeom prst="rect">
            <a:avLst/>
          </a:prstGeom>
          <a:solidFill>
            <a:srgbClr val="CFDEE7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8251545" y="4517136"/>
            <a:ext cx="165030" cy="122895"/>
          </a:xfrm>
          <a:prstGeom prst="rect">
            <a:avLst/>
          </a:prstGeom>
          <a:solidFill>
            <a:srgbClr val="F5F2E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8423452" y="4517136"/>
            <a:ext cx="165030" cy="122895"/>
          </a:xfrm>
          <a:prstGeom prst="rect">
            <a:avLst/>
          </a:prstGeom>
          <a:solidFill>
            <a:srgbClr val="EDDCC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7735823" y="4645152"/>
            <a:ext cx="165030" cy="122895"/>
          </a:xfrm>
          <a:prstGeom prst="rect">
            <a:avLst/>
          </a:prstGeom>
          <a:solidFill>
            <a:srgbClr val="DDE7E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7907731" y="4645152"/>
            <a:ext cx="165030" cy="122895"/>
          </a:xfrm>
          <a:prstGeom prst="rect">
            <a:avLst/>
          </a:prstGeom>
          <a:solidFill>
            <a:srgbClr val="CFDEE7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8079638" y="4645152"/>
            <a:ext cx="165030" cy="122895"/>
          </a:xfrm>
          <a:prstGeom prst="rect">
            <a:avLst/>
          </a:prstGeom>
          <a:solidFill>
            <a:srgbClr val="D9A067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8251545" y="4645152"/>
            <a:ext cx="165030" cy="122895"/>
          </a:xfrm>
          <a:prstGeom prst="rect">
            <a:avLst/>
          </a:prstGeom>
          <a:solidFill>
            <a:srgbClr val="E5C5A2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8423452" y="4645152"/>
            <a:ext cx="165030" cy="122895"/>
          </a:xfrm>
          <a:prstGeom prst="rect">
            <a:avLst/>
          </a:prstGeom>
          <a:solidFill>
            <a:srgbClr val="ECF0EF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7735823" y="4773168"/>
            <a:ext cx="165030" cy="122895"/>
          </a:xfrm>
          <a:prstGeom prst="rect">
            <a:avLst/>
          </a:prstGeom>
          <a:solidFill>
            <a:srgbClr val="F1E7D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7907731" y="4773168"/>
            <a:ext cx="165030" cy="122895"/>
          </a:xfrm>
          <a:prstGeom prst="rect">
            <a:avLst/>
          </a:prstGeom>
          <a:solidFill>
            <a:srgbClr val="F5F2E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8079638" y="4773168"/>
            <a:ext cx="165030" cy="122895"/>
          </a:xfrm>
          <a:prstGeom prst="rect">
            <a:avLst/>
          </a:prstGeom>
          <a:solidFill>
            <a:srgbClr val="E5C5A2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8251545" y="4773168"/>
            <a:ext cx="165030" cy="122895"/>
          </a:xfrm>
          <a:prstGeom prst="rect">
            <a:avLst/>
          </a:prstGeom>
          <a:solidFill>
            <a:srgbClr val="D9A067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8423452" y="4773168"/>
            <a:ext cx="165030" cy="122895"/>
          </a:xfrm>
          <a:prstGeom prst="rect">
            <a:avLst/>
          </a:prstGeom>
          <a:solidFill>
            <a:srgbClr val="EAD3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7735823" y="4901183"/>
            <a:ext cx="165030" cy="122895"/>
          </a:xfrm>
          <a:prstGeom prst="rect">
            <a:avLst/>
          </a:prstGeom>
          <a:solidFill>
            <a:srgbClr val="E9D0B4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7907731" y="4901183"/>
            <a:ext cx="165030" cy="122895"/>
          </a:xfrm>
          <a:prstGeom prst="rect">
            <a:avLst/>
          </a:prstGeom>
          <a:solidFill>
            <a:srgbClr val="EDDCC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079638" y="4901183"/>
            <a:ext cx="165030" cy="122895"/>
          </a:xfrm>
          <a:prstGeom prst="rect">
            <a:avLst/>
          </a:prstGeom>
          <a:solidFill>
            <a:srgbClr val="ECF0EF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8251545" y="4901183"/>
            <a:ext cx="165030" cy="122895"/>
          </a:xfrm>
          <a:prstGeom prst="rect">
            <a:avLst/>
          </a:prstGeom>
          <a:solidFill>
            <a:srgbClr val="EAD3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8423452" y="4901183"/>
            <a:ext cx="165030" cy="122895"/>
          </a:xfrm>
          <a:prstGeom prst="rect">
            <a:avLst/>
          </a:prstGeom>
          <a:solidFill>
            <a:srgbClr val="D9A067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7735823" y="5061204"/>
            <a:ext cx="214884" cy="8229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520" b="0">
                <a:solidFill>
                  <a:srgbClr val="5F5F5F"/>
                </a:solidFill>
                <a:latin typeface="Arial"/>
              </a:rPr>
              <a:t>-1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8079638" y="5061204"/>
            <a:ext cx="171907" cy="8229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520" b="0">
                <a:solidFill>
                  <a:srgbClr val="5F5F5F"/>
                </a:solidFill>
                <a:latin typeface="Arial"/>
              </a:rPr>
              <a:t>0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8380475" y="5061204"/>
            <a:ext cx="214884" cy="8229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520" b="0">
                <a:solidFill>
                  <a:srgbClr val="5F5F5F"/>
                </a:solidFill>
                <a:latin typeface="Arial"/>
              </a:rPr>
              <a:t>+1</a:t>
            </a:r>
          </a:p>
        </p:txBody>
      </p:sp>
      <p:sp>
        <p:nvSpPr>
          <p:cNvPr id="420" name="Rounded Rectangle 419"/>
          <p:cNvSpPr/>
          <p:nvPr/>
        </p:nvSpPr>
        <p:spPr>
          <a:xfrm>
            <a:off x="9089136" y="4005072"/>
            <a:ext cx="1207008" cy="144475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9144000" y="4069080"/>
            <a:ext cx="109728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960" b="1">
                <a:solidFill>
                  <a:srgbClr val="009E73"/>
                </a:solidFill>
                <a:latin typeface="Arial"/>
              </a:rPr>
              <a:t>AUC / utility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125711" y="5239512"/>
            <a:ext cx="1133856" cy="12801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640" b="0">
                <a:solidFill>
                  <a:srgbClr val="5F5F5F"/>
                </a:solidFill>
                <a:latin typeface="Arial"/>
              </a:rPr>
              <a:t>RF + TSTR summaries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9272015" y="4817059"/>
            <a:ext cx="429769" cy="0"/>
          </a:xfrm>
          <a:prstGeom prst="line">
            <a:avLst/>
          </a:prstGeom>
          <a:ln w="825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9272015" y="4407407"/>
            <a:ext cx="0" cy="409652"/>
          </a:xfrm>
          <a:prstGeom prst="line">
            <a:avLst/>
          </a:prstGeom>
          <a:ln w="825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9366564" y="4849063"/>
            <a:ext cx="266456" cy="914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540" b="0">
                <a:solidFill>
                  <a:srgbClr val="5F5F5F"/>
                </a:solidFill>
                <a:latin typeface="Arial"/>
              </a:rPr>
              <a:t>FPR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125711" y="4522110"/>
            <a:ext cx="137160" cy="914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540" b="0">
                <a:solidFill>
                  <a:srgbClr val="5F5F5F"/>
                </a:solidFill>
                <a:latin typeface="Arial"/>
              </a:rPr>
              <a:t>TPR</a:t>
            </a:r>
          </a:p>
        </p:txBody>
      </p:sp>
      <p:cxnSp>
        <p:nvCxnSpPr>
          <p:cNvPr id="427" name="Connector 426"/>
          <p:cNvCxnSpPr/>
          <p:nvPr/>
        </p:nvCxnSpPr>
        <p:spPr>
          <a:xfrm flipV="1">
            <a:off x="9272015" y="4407407"/>
            <a:ext cx="429769" cy="409652"/>
          </a:xfrm>
          <a:prstGeom prst="line">
            <a:avLst/>
          </a:prstGeom>
          <a:ln w="6985">
            <a:solidFill>
              <a:srgbClr val="CDCD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9284909" y="4653198"/>
            <a:ext cx="64465" cy="122896"/>
          </a:xfrm>
          <a:prstGeom prst="line">
            <a:avLst/>
          </a:prstGeom>
          <a:ln w="14604">
            <a:solidFill>
              <a:srgbClr val="EA5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9349374" y="4546689"/>
            <a:ext cx="94549" cy="106509"/>
          </a:xfrm>
          <a:prstGeom prst="line">
            <a:avLst/>
          </a:prstGeom>
          <a:ln w="14604">
            <a:solidFill>
              <a:srgbClr val="EA5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9443923" y="4468855"/>
            <a:ext cx="128930" cy="77834"/>
          </a:xfrm>
          <a:prstGeom prst="line">
            <a:avLst/>
          </a:prstGeom>
          <a:ln w="14604">
            <a:solidFill>
              <a:srgbClr val="EA5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9572853" y="4427890"/>
            <a:ext cx="116037" cy="40965"/>
          </a:xfrm>
          <a:prstGeom prst="line">
            <a:avLst/>
          </a:prstGeom>
          <a:ln w="14604">
            <a:solidFill>
              <a:srgbClr val="EA5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TextBox 431"/>
          <p:cNvSpPr txBox="1"/>
          <p:nvPr/>
        </p:nvSpPr>
        <p:spPr>
          <a:xfrm>
            <a:off x="9409176" y="4935931"/>
            <a:ext cx="257860" cy="8229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560" b="1">
                <a:solidFill>
                  <a:srgbClr val="EA5C1F"/>
                </a:solidFill>
                <a:latin typeface="Arial"/>
              </a:rPr>
              <a:t>AUC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804928" y="4820716"/>
            <a:ext cx="292242" cy="0"/>
          </a:xfrm>
          <a:prstGeom prst="line">
            <a:avLst/>
          </a:prstGeom>
          <a:ln w="698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4" name="Rectangle 433"/>
          <p:cNvSpPr/>
          <p:nvPr/>
        </p:nvSpPr>
        <p:spPr>
          <a:xfrm>
            <a:off x="9804928" y="4551883"/>
            <a:ext cx="52603" cy="136209"/>
          </a:xfrm>
          <a:prstGeom prst="rect">
            <a:avLst/>
          </a:prstGeom>
          <a:solidFill>
            <a:srgbClr val="C7C2F4"/>
          </a:solidFill>
          <a:ln w="8255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5" name="Connector 434"/>
          <p:cNvCxnSpPr/>
          <p:nvPr/>
        </p:nvCxnSpPr>
        <p:spPr>
          <a:xfrm>
            <a:off x="9804928" y="4623572"/>
            <a:ext cx="52603" cy="0"/>
          </a:xfrm>
          <a:prstGeom prst="line">
            <a:avLst/>
          </a:prstGeom>
          <a:ln w="825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6" name="Rectangle 435"/>
          <p:cNvSpPr/>
          <p:nvPr/>
        </p:nvSpPr>
        <p:spPr>
          <a:xfrm>
            <a:off x="9904290" y="4512454"/>
            <a:ext cx="52603" cy="136209"/>
          </a:xfrm>
          <a:prstGeom prst="rect">
            <a:avLst/>
          </a:prstGeom>
          <a:solidFill>
            <a:srgbClr val="E8B4D2"/>
          </a:solidFill>
          <a:ln w="8255">
            <a:solidFill>
              <a:srgbClr val="CC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7" name="Connector 436"/>
          <p:cNvCxnSpPr/>
          <p:nvPr/>
        </p:nvCxnSpPr>
        <p:spPr>
          <a:xfrm>
            <a:off x="9904290" y="4584143"/>
            <a:ext cx="52604" cy="0"/>
          </a:xfrm>
          <a:prstGeom prst="line">
            <a:avLst/>
          </a:prstGeom>
          <a:ln w="825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Rectangle 437"/>
          <p:cNvSpPr/>
          <p:nvPr/>
        </p:nvSpPr>
        <p:spPr>
          <a:xfrm>
            <a:off x="10003653" y="4576974"/>
            <a:ext cx="52603" cy="136209"/>
          </a:xfrm>
          <a:prstGeom prst="rect">
            <a:avLst/>
          </a:prstGeom>
          <a:solidFill>
            <a:srgbClr val="A8DEC9"/>
          </a:solidFill>
          <a:ln w="825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9" name="Connector 438"/>
          <p:cNvCxnSpPr/>
          <p:nvPr/>
        </p:nvCxnSpPr>
        <p:spPr>
          <a:xfrm>
            <a:off x="10003653" y="4648663"/>
            <a:ext cx="52603" cy="0"/>
          </a:xfrm>
          <a:prstGeom prst="line">
            <a:avLst/>
          </a:prstGeom>
          <a:ln w="8255">
            <a:solidFill>
              <a:srgbClr val="33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TextBox 439"/>
          <p:cNvSpPr txBox="1"/>
          <p:nvPr/>
        </p:nvSpPr>
        <p:spPr>
          <a:xfrm>
            <a:off x="9777496" y="4939588"/>
            <a:ext cx="383682" cy="8229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560" b="1">
                <a:solidFill>
                  <a:srgbClr val="5F5F5F"/>
                </a:solidFill>
                <a:latin typeface="Arial"/>
              </a:rPr>
              <a:t>utility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7562088" y="5833872"/>
            <a:ext cx="265176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819" b="0">
                <a:solidFill>
                  <a:srgbClr val="5F5F5F"/>
                </a:solidFill>
                <a:latin typeface="Arial"/>
              </a:rPr>
              <a:t>visual fidelity  -&gt;  statistical fidelity  -&gt;  downstream behavior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