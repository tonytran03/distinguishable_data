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624560" cy="4114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333434"/>
                </a:solidFill>
                <a:latin typeface="Arial"/>
              </a:rPr>
              <a:t>Systematic evaluation of synthetic biomedical data fidelity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3624560" cy="25603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1050" b="0">
                <a:solidFill>
                  <a:srgbClr val="646464"/>
                </a:solidFill>
                <a:latin typeface="Arial"/>
              </a:rPr>
              <a:t>Editable schematic source for manuscript Figure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880360" cy="5074920"/>
          </a:xfrm>
          <a:prstGeom prst="roundRect">
            <a:avLst/>
          </a:prstGeom>
          <a:solidFill>
            <a:srgbClr val="FAFAFA"/>
          </a:solidFill>
          <a:ln w="17780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Input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1508760"/>
            <a:ext cx="2514600" cy="5074920"/>
          </a:xfrm>
          <a:prstGeom prst="roundRect">
            <a:avLst/>
          </a:prstGeom>
          <a:solidFill>
            <a:srgbClr val="F7FBFF"/>
          </a:solidFill>
          <a:ln w="17780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Synthetic generators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08760"/>
            <a:ext cx="3246120" cy="5074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Evaluation hierarchy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50040" y="1508760"/>
            <a:ext cx="2148840" cy="5074920"/>
          </a:xfrm>
          <a:prstGeom prst="roundRect">
            <a:avLst/>
          </a:prstGeom>
          <a:solidFill>
            <a:srgbClr val="FFF8EF"/>
          </a:solidFill>
          <a:ln w="17780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Stress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148840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148840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148840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7864" y="2148840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6736" y="2148840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35608" y="2148840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281428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2281428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2281428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7864" y="2281428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16736" y="2281428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35608" y="2281428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414016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2414016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2414016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97864" y="2414016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16736" y="2414016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35608" y="2414016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2546604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2546604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2546604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97864" y="2546604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16736" y="2546604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5608" y="2546604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55648" y="2313432"/>
            <a:ext cx="210312" cy="210312"/>
          </a:xfrm>
          <a:prstGeom prst="ellipse">
            <a:avLst/>
          </a:prstGeom>
          <a:solidFill>
            <a:srgbClr val="EA5C1F"/>
          </a:solidFill>
          <a:ln w="15240">
            <a:solidFill>
              <a:srgbClr val="EA5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1" y="2240280"/>
            <a:ext cx="96012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A5C1F"/>
                </a:solidFill>
                <a:latin typeface="Arial"/>
              </a:rPr>
              <a:t>HIV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1" y="2542032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real X, 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3291840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" y="3291840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8992" y="3291840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97864" y="3291840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16736" y="3291840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35608" y="3291840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" y="3424428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3424428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8992" y="3424428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97864" y="3424428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424428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35608" y="3424428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" y="3557016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0120" y="3557016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8992" y="3557016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7864" y="3557016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16736" y="3557016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35608" y="3557016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1248" y="3689604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" y="3689604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8992" y="3689604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97864" y="3689604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16736" y="3689604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35608" y="3689604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755648" y="3456432"/>
            <a:ext cx="210312" cy="210312"/>
          </a:xfrm>
          <a:prstGeom prst="ellipse">
            <a:avLst/>
          </a:prstGeom>
          <a:solidFill>
            <a:srgbClr val="1DB100"/>
          </a:solidFill>
          <a:ln w="15240">
            <a:solidFill>
              <a:srgbClr val="1DB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84831" y="3383280"/>
            <a:ext cx="96012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DB100"/>
                </a:solidFill>
                <a:latin typeface="Arial"/>
              </a:rPr>
              <a:t>Breast Cancer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84831" y="3685032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real X, 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" y="4434840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0120" y="4434840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8992" y="4434840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97864" y="4434840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16736" y="4434840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435608" y="4434840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" y="4567427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0120" y="4567427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8992" y="4567427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97864" y="4567427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316736" y="4567427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435608" y="4567427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1248" y="4700016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120" y="4700016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8992" y="4700016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97864" y="4700016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16736" y="4700016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35608" y="4700016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1248" y="4832603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0120" y="4832603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8992" y="4832603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97864" y="4832603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16736" y="4832603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435608" y="4832603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755648" y="4599431"/>
            <a:ext cx="210312" cy="210312"/>
          </a:xfrm>
          <a:prstGeom prst="ellipse">
            <a:avLst/>
          </a:prstGeom>
          <a:solidFill>
            <a:srgbClr val="0076BA"/>
          </a:solidFill>
          <a:ln w="1524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84831" y="4526279"/>
            <a:ext cx="96012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076BA"/>
                </a:solidFill>
                <a:latin typeface="Arial"/>
              </a:rPr>
              <a:t>Diabetes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84831" y="4828031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real X, y</a:t>
            </a:r>
          </a:p>
        </p:txBody>
      </p:sp>
      <p:sp>
        <p:nvSpPr>
          <p:cNvPr id="89" name="Oval 88"/>
          <p:cNvSpPr/>
          <p:nvPr/>
        </p:nvSpPr>
        <p:spPr>
          <a:xfrm>
            <a:off x="4462272" y="2148840"/>
            <a:ext cx="256032" cy="256032"/>
          </a:xfrm>
          <a:prstGeom prst="ellipse">
            <a:avLst/>
          </a:prstGeom>
          <a:solidFill>
            <a:srgbClr val="6A5ACD"/>
          </a:solidFill>
          <a:ln w="1524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64608" y="213055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6A5ACD"/>
                </a:solidFill>
                <a:latin typeface="Arial"/>
              </a:rPr>
              <a:t>Bootstrap</a:t>
            </a:r>
          </a:p>
        </p:txBody>
      </p:sp>
      <p:sp>
        <p:nvSpPr>
          <p:cNvPr id="91" name="Oval 90"/>
          <p:cNvSpPr/>
          <p:nvPr/>
        </p:nvSpPr>
        <p:spPr>
          <a:xfrm>
            <a:off x="4462272" y="2926080"/>
            <a:ext cx="256032" cy="256032"/>
          </a:xfrm>
          <a:prstGeom prst="ellipse">
            <a:avLst/>
          </a:prstGeom>
          <a:solidFill>
            <a:srgbClr val="CC79A7"/>
          </a:solidFill>
          <a:ln w="15240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64608" y="290779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CC79A7"/>
                </a:solidFill>
                <a:latin typeface="Arial"/>
              </a:rPr>
              <a:t>Column-wise</a:t>
            </a:r>
          </a:p>
        </p:txBody>
      </p:sp>
      <p:sp>
        <p:nvSpPr>
          <p:cNvPr id="93" name="Oval 92"/>
          <p:cNvSpPr/>
          <p:nvPr/>
        </p:nvSpPr>
        <p:spPr>
          <a:xfrm>
            <a:off x="4462272" y="3703320"/>
            <a:ext cx="256032" cy="256032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64608" y="368503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009E73"/>
                </a:solidFill>
                <a:latin typeface="Arial"/>
              </a:rPr>
              <a:t>GMM</a:t>
            </a:r>
          </a:p>
        </p:txBody>
      </p:sp>
      <p:sp>
        <p:nvSpPr>
          <p:cNvPr id="95" name="Oval 94"/>
          <p:cNvSpPr/>
          <p:nvPr/>
        </p:nvSpPr>
        <p:spPr>
          <a:xfrm>
            <a:off x="4462272" y="4480560"/>
            <a:ext cx="256032" cy="256032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64608" y="446227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D55E00"/>
                </a:solidFill>
                <a:latin typeface="Arial"/>
              </a:rPr>
              <a:t>CVAE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635240" y="2103120"/>
            <a:ext cx="1143000" cy="96012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7799831" y="2546421"/>
            <a:ext cx="144841" cy="26334"/>
          </a:xfrm>
          <a:prstGeom prst="line">
            <a:avLst/>
          </a:prstGeom>
          <a:ln w="2159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944672" y="2502529"/>
            <a:ext cx="128748" cy="43892"/>
          </a:xfrm>
          <a:prstGeom prst="line">
            <a:avLst/>
          </a:prstGeom>
          <a:ln w="2159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073420" y="2449860"/>
            <a:ext cx="144841" cy="52669"/>
          </a:xfrm>
          <a:prstGeom prst="line">
            <a:avLst/>
          </a:prstGeom>
          <a:ln w="2159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218261" y="2414747"/>
            <a:ext cx="144841" cy="35113"/>
          </a:xfrm>
          <a:prstGeom prst="line">
            <a:avLst/>
          </a:prstGeom>
          <a:ln w="2159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363102" y="2379634"/>
            <a:ext cx="144841" cy="35113"/>
          </a:xfrm>
          <a:prstGeom prst="line">
            <a:avLst/>
          </a:prstGeom>
          <a:ln w="2159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507943" y="2362078"/>
            <a:ext cx="96561" cy="17556"/>
          </a:xfrm>
          <a:prstGeom prst="line">
            <a:avLst/>
          </a:prstGeom>
          <a:ln w="21590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7776971" y="2549895"/>
            <a:ext cx="45720" cy="45720"/>
          </a:xfrm>
          <a:prstGeom prst="ellipse">
            <a:avLst/>
          </a:prstGeom>
          <a:solidFill>
            <a:srgbClr val="EA5C1F"/>
          </a:solidFill>
          <a:ln w="15240">
            <a:solidFill>
              <a:srgbClr val="EA5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050560" y="2479669"/>
            <a:ext cx="45720" cy="45720"/>
          </a:xfrm>
          <a:prstGeom prst="ellipse">
            <a:avLst/>
          </a:prstGeom>
          <a:solidFill>
            <a:srgbClr val="EA5C1F"/>
          </a:solidFill>
          <a:ln w="15240">
            <a:solidFill>
              <a:srgbClr val="EA5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340242" y="2391887"/>
            <a:ext cx="45720" cy="45720"/>
          </a:xfrm>
          <a:prstGeom prst="ellipse">
            <a:avLst/>
          </a:prstGeom>
          <a:solidFill>
            <a:srgbClr val="EA5C1F"/>
          </a:solidFill>
          <a:ln w="15240">
            <a:solidFill>
              <a:srgbClr val="EA5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581644" y="2339218"/>
            <a:ext cx="45720" cy="45720"/>
          </a:xfrm>
          <a:prstGeom prst="ellipse">
            <a:avLst/>
          </a:prstGeom>
          <a:solidFill>
            <a:srgbClr val="EA5C1F"/>
          </a:solidFill>
          <a:ln w="15240">
            <a:solidFill>
              <a:srgbClr val="EA5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80960" y="2679191"/>
            <a:ext cx="1051560" cy="2011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1019" b="1">
                <a:solidFill>
                  <a:srgbClr val="333434"/>
                </a:solidFill>
                <a:latin typeface="Arial"/>
              </a:rPr>
              <a:t>Geometry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80960" y="2862072"/>
            <a:ext cx="1051560" cy="146304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740" b="0">
                <a:solidFill>
                  <a:srgbClr val="646464"/>
                </a:solidFill>
                <a:latin typeface="Arial"/>
              </a:rPr>
              <a:t>PCA overlap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052560" y="2103120"/>
            <a:ext cx="1143000" cy="96012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217152" y="2562514"/>
            <a:ext cx="67056" cy="107533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261856" y="2546845"/>
            <a:ext cx="67056" cy="123202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335486" y="2447300"/>
            <a:ext cx="67056" cy="222747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80190" y="2447761"/>
            <a:ext cx="67056" cy="222286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453820" y="2316723"/>
            <a:ext cx="67056" cy="353324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498524" y="2335465"/>
            <a:ext cx="67056" cy="334582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572154" y="2408895"/>
            <a:ext cx="67056" cy="261152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616858" y="2414732"/>
            <a:ext cx="67056" cy="255315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690488" y="2508747"/>
            <a:ext cx="67056" cy="161300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735192" y="2500606"/>
            <a:ext cx="67056" cy="169441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808822" y="2593238"/>
            <a:ext cx="67056" cy="76809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53526" y="2573267"/>
            <a:ext cx="67056" cy="96780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098280" y="2679191"/>
            <a:ext cx="1051560" cy="2011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1019" b="1">
                <a:solidFill>
                  <a:srgbClr val="333434"/>
                </a:solidFill>
                <a:latin typeface="Arial"/>
              </a:rPr>
              <a:t>Distributions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98280" y="2862072"/>
            <a:ext cx="1051560" cy="146304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740" b="0">
                <a:solidFill>
                  <a:srgbClr val="646464"/>
                </a:solidFill>
                <a:latin typeface="Arial"/>
              </a:rPr>
              <a:t>marginal fidelity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635240" y="3886200"/>
            <a:ext cx="1143000" cy="96012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863840" y="4041648"/>
            <a:ext cx="94052" cy="84124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973567" y="4041648"/>
            <a:ext cx="94052" cy="84124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083296" y="4041648"/>
            <a:ext cx="94052" cy="84124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193023" y="4041648"/>
            <a:ext cx="94052" cy="84124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302752" y="4041648"/>
            <a:ext cx="94052" cy="84124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412480" y="4041648"/>
            <a:ext cx="94052" cy="84124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863840" y="4146804"/>
            <a:ext cx="94052" cy="84124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973567" y="4146804"/>
            <a:ext cx="94052" cy="84124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083296" y="4146804"/>
            <a:ext cx="94052" cy="84124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193023" y="4146804"/>
            <a:ext cx="94052" cy="84124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302752" y="4146804"/>
            <a:ext cx="94052" cy="84124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412480" y="4146804"/>
            <a:ext cx="94052" cy="84124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863840" y="4251960"/>
            <a:ext cx="94052" cy="84124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973567" y="4251960"/>
            <a:ext cx="94052" cy="84124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083296" y="4251960"/>
            <a:ext cx="94052" cy="84124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193023" y="4251960"/>
            <a:ext cx="94052" cy="84124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302752" y="4251960"/>
            <a:ext cx="94052" cy="84124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412480" y="4251960"/>
            <a:ext cx="94052" cy="84124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863840" y="4357116"/>
            <a:ext cx="94052" cy="84124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973567" y="4357116"/>
            <a:ext cx="94052" cy="84124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083296" y="4357116"/>
            <a:ext cx="94052" cy="84124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193023" y="4357116"/>
            <a:ext cx="94052" cy="84124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302752" y="4357116"/>
            <a:ext cx="94052" cy="84124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412480" y="4357116"/>
            <a:ext cx="94052" cy="84124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680960" y="4462272"/>
            <a:ext cx="1051560" cy="2011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1019" b="1">
                <a:solidFill>
                  <a:srgbClr val="333434"/>
                </a:solidFill>
                <a:latin typeface="Arial"/>
              </a:rPr>
              <a:t>Structure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680960" y="4645152"/>
            <a:ext cx="1051560" cy="146304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740" b="0">
                <a:solidFill>
                  <a:srgbClr val="646464"/>
                </a:solidFill>
                <a:latin typeface="Arial"/>
              </a:rPr>
              <a:t>correlations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052560" y="3886200"/>
            <a:ext cx="1143000" cy="96012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 flipV="1">
            <a:off x="9217152" y="4329501"/>
            <a:ext cx="144840" cy="26334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361992" y="4285609"/>
            <a:ext cx="128748" cy="43892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490740" y="4232940"/>
            <a:ext cx="144841" cy="52669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635581" y="4197827"/>
            <a:ext cx="144841" cy="35113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422" y="4162714"/>
            <a:ext cx="144841" cy="35113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25263" y="4145158"/>
            <a:ext cx="96561" cy="17556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9194292" y="4332975"/>
            <a:ext cx="45720" cy="457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467880" y="4262749"/>
            <a:ext cx="45720" cy="457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757562" y="4174967"/>
            <a:ext cx="45720" cy="457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998964" y="4122298"/>
            <a:ext cx="45720" cy="457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098280" y="4462272"/>
            <a:ext cx="1051560" cy="2011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1019" b="1">
                <a:solidFill>
                  <a:srgbClr val="333434"/>
                </a:solidFill>
                <a:latin typeface="Arial"/>
              </a:rPr>
              <a:t>AUC / utility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098280" y="4645152"/>
            <a:ext cx="1051560" cy="146304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740" b="0">
                <a:solidFill>
                  <a:srgbClr val="646464"/>
                </a:solidFill>
                <a:latin typeface="Arial"/>
              </a:rPr>
              <a:t>RF + TSTR</a:t>
            </a:r>
          </a:p>
        </p:txBody>
      </p:sp>
      <p:cxnSp>
        <p:nvCxnSpPr>
          <p:cNvPr id="165" name="Connector 164"/>
          <p:cNvCxnSpPr/>
          <p:nvPr/>
        </p:nvCxnSpPr>
        <p:spPr>
          <a:xfrm flipV="1">
            <a:off x="12161520" y="2736616"/>
            <a:ext cx="197510" cy="42794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2359030" y="2665293"/>
            <a:ext cx="175565" cy="71323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2534595" y="2579705"/>
            <a:ext cx="197510" cy="85588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2732105" y="2522646"/>
            <a:ext cx="197511" cy="57059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2929616" y="2465588"/>
            <a:ext cx="197510" cy="57058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3127126" y="2437058"/>
            <a:ext cx="131674" cy="28530"/>
          </a:xfrm>
          <a:prstGeom prst="line">
            <a:avLst/>
          </a:prstGeom>
          <a:ln w="215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Oval 170"/>
          <p:cNvSpPr/>
          <p:nvPr/>
        </p:nvSpPr>
        <p:spPr>
          <a:xfrm>
            <a:off x="12138660" y="2756550"/>
            <a:ext cx="45720" cy="457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2511735" y="2642433"/>
            <a:ext cx="45720" cy="457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2906756" y="2499786"/>
            <a:ext cx="45720" cy="457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3235940" y="2414198"/>
            <a:ext cx="45720" cy="457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2070080" y="2889504"/>
            <a:ext cx="13258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333434"/>
                </a:solidFill>
                <a:latin typeface="Arial"/>
              </a:rPr>
              <a:t>noise sweep</a:t>
            </a:r>
          </a:p>
        </p:txBody>
      </p:sp>
      <p:cxnSp>
        <p:nvCxnSpPr>
          <p:cNvPr id="176" name="Connector 175"/>
          <p:cNvCxnSpPr/>
          <p:nvPr/>
        </p:nvCxnSpPr>
        <p:spPr>
          <a:xfrm flipV="1">
            <a:off x="12161520" y="4885456"/>
            <a:ext cx="197510" cy="42794"/>
          </a:xfrm>
          <a:prstGeom prst="line">
            <a:avLst/>
          </a:prstGeom>
          <a:ln w="21590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2359030" y="4814133"/>
            <a:ext cx="175565" cy="71323"/>
          </a:xfrm>
          <a:prstGeom prst="line">
            <a:avLst/>
          </a:prstGeom>
          <a:ln w="21590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2534595" y="4728545"/>
            <a:ext cx="197510" cy="85588"/>
          </a:xfrm>
          <a:prstGeom prst="line">
            <a:avLst/>
          </a:prstGeom>
          <a:ln w="21590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2732105" y="4671486"/>
            <a:ext cx="197511" cy="57059"/>
          </a:xfrm>
          <a:prstGeom prst="line">
            <a:avLst/>
          </a:prstGeom>
          <a:ln w="21590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2929616" y="4614428"/>
            <a:ext cx="197510" cy="57058"/>
          </a:xfrm>
          <a:prstGeom prst="line">
            <a:avLst/>
          </a:prstGeom>
          <a:ln w="21590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3127126" y="4585898"/>
            <a:ext cx="131674" cy="28530"/>
          </a:xfrm>
          <a:prstGeom prst="line">
            <a:avLst/>
          </a:prstGeom>
          <a:ln w="21590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12138660" y="4905390"/>
            <a:ext cx="45720" cy="45720"/>
          </a:xfrm>
          <a:prstGeom prst="ellipse">
            <a:avLst/>
          </a:prstGeom>
          <a:solidFill>
            <a:srgbClr val="0076BA"/>
          </a:solidFill>
          <a:ln w="1524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511735" y="4791273"/>
            <a:ext cx="45720" cy="45720"/>
          </a:xfrm>
          <a:prstGeom prst="ellipse">
            <a:avLst/>
          </a:prstGeom>
          <a:solidFill>
            <a:srgbClr val="0076BA"/>
          </a:solidFill>
          <a:ln w="1524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906756" y="4648626"/>
            <a:ext cx="45720" cy="45720"/>
          </a:xfrm>
          <a:prstGeom prst="ellipse">
            <a:avLst/>
          </a:prstGeom>
          <a:solidFill>
            <a:srgbClr val="0076BA"/>
          </a:solidFill>
          <a:ln w="1524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3235940" y="4563038"/>
            <a:ext cx="45720" cy="45720"/>
          </a:xfrm>
          <a:prstGeom prst="ellipse">
            <a:avLst/>
          </a:prstGeom>
          <a:solidFill>
            <a:srgbClr val="0076BA"/>
          </a:solidFill>
          <a:ln w="1524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1960352" y="5029200"/>
            <a:ext cx="15544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333434"/>
                </a:solidFill>
                <a:latin typeface="Arial"/>
              </a:rPr>
              <a:t>feature ablation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3511296" y="4041648"/>
            <a:ext cx="402336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729984" y="4041648"/>
            <a:ext cx="420624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0716768" y="4041648"/>
            <a:ext cx="822960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594360" y="7516368"/>
            <a:ext cx="13441680" cy="25603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950" b="0">
                <a:solidFill>
                  <a:srgbClr val="646464"/>
                </a:solidFill>
                <a:latin typeface="Arial"/>
              </a:rPr>
              <a:t>All text, boxes, arrows, markers, and mini-panels are editable PowerPoint objects.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